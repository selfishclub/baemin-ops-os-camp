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표지
안녕하세요, 떡기리 공동창업자 김은정입니다. 오늘은 AI로 시작한 작은 변화가 12가지 경영 도구로 확장된 이야기를 들려드리겠습니다.
■ 넘김: "들려드리겠습니다" 다음에 넘김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떡기리 브랜드 + [에피소드 ①] 클로드도 몰랐던 나
떡기리는 1972년 방앗간에서 시작해 3대째 이어 온 브랜드이고, 저는 그 방앗간을 기반으로 떡기리를 공동창업해 여러 매장을 운영하고 있습니다. (잠깐 멈춤) 사실 처음엔 클로드가 뭔지도 몰랐습니다. 첫 강의 때는 GitHub, 저장소, 배포… 외계어를 듣는 줄 알았어요. (잠깐 멈춤 — 웃음) 보조강사님께 따로 배우고, 정보처리과에 다니는 조카와 개발 일을 하는 사촌에게도 찾아가 물었습니다. 그래도 막히면 ChatGPT에게 물었죠. 이게 무슨 뜻이야? 어디를 눌러야 해? 그리고 ChatGPT에 쌓여 있던 떡기리 이야기를 정리해서 클로드에 붙여넣고 개발을 시작했습니다.
■ 넘김: "개발을 시작했습니다" 다음에 넘김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직원교육 온라인북
처음 만든 건 직원교육 온라인북입니다. 첫 버전은 체크가 그 휴대폰에만 남는 실수가 있었는데, 고쳐서 이제는 매장·이름·시간이 서버에 남습니다.
■ 넘김: 바로 넘김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시연 ① 체크리스트
직접 보여 드리겠습니다. 데모 매장과 직원을 고르고 마감 체크리스트를 엽니다. 항목을 누를 때마다 시각이 남고, 완료 제출을 하면 누가 몇 시에 끝냈는지 기록됩니다.
■ 시연 ① 시작 — https://tteokgiri-onlinebook-demo.vercel.app (4장 '온라인북 데모 열기' 버튼 · 클릭 약 40초)
  1) "이름 고르기" → 데모 2호점 → 알바 B → "이대로 시작"
  2) "🌙 마감 체크리스트"
  3) 항목 7개를 차례로 체크 (옆에 시각 표시)
  4) "오늘 폐기 없음" → "마감 완료 제출"
  5) 화면 위 "마감 완료 · 알바 B · 시각" 가리키기
■ 시연이 안 될 때: "인터넷이 저보다 긴장했나 봅니다. 준비한 화면으로 보여 드리겠습니다." (4장 화면으로 설명)
■ 넘김: 완료 표시를 보여 준 뒤, 브라우저는 그대로 두고 5장으로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사장 점검표 (Before &amp; After)
이 기록을 사장 점검표에서 봅니다. 예전에는 매장마다 전화하고 카톡으로 물어봤는데, 이제는 매장별 기록을 한눈에 봅니다. 데모는 바로 열리고, 실제는 PIN으로 잠겨 있습니다.
■ 시연 ① 이어서 (클릭 약 20초)
  1) "첫 화면" → 맨 아래 "📋 사장 점검표"
  2) 데모 2호점 마감 "완료 · 알바 B" 칸 가리키기
■ 시연이 안 될 때: "점검표는 이렇게 보입니다." (5장 화면으로 설명)
■ 넘김: 시연 ① 끝 — 발표 화면으로 돌아와 6장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[에피소드 ②] 40만 원 결제 실수 + 대표 운영 OS 12가지 기능
그런데 매장이 여럿이면 점검표도 매일 열어 봐야 했습니다. 그래서 대표용 프로그램을 만들기 시작했는데, 여기서 사고가 하나 났습니다. 클로드 맥스를 결제하다가… 실수로 약 40만 원짜리를 결제했어요. (잠깐 멈춤 — 웃음) 써 보니 토큰이 써도 써도 남더라고요. 아까워서라도 ChatGPT에게 물었습니다. 나한테 또 필요한 프로그램이 뭘까? 그렇게 하나씩 만들다 보니 대표 운영 OS 안에 12가지 경영 기능이 생겼습니다. 따로 떨어진 프로그램이 아니라 하나의 시스템 안에서 연결돼 있고, 열한 가지는 실제 운영에서 직접 써 봤고, AI 시장 브리핑 하나만 아직 일부 구현입니다. 그런데도… 토큰은 아직 남아 있습니다. (잠깐 멈춤 — 웃음)
■ 참고: 12가지 기능 — ① 홈 상황판 ② 매장 현황·기록 확인 ③ 할 일·결정 관리 ④ 매장 기준·경고 기준 ⑥ 직접 기록·보관함 ⑦ 상품 마스터 ⑧ 가격·수익성 계산기 ⑨ 입점 타당성 계산기 ⑩ 신규매장 오픈 관리 ⑪ 마케팅 보드 ⑫ 대표 자료실 — 실제 대표 OS에서 직접 사용(11개, ⑦~⑫는 10/14 대표 확인). ⑤ AI 시장 브리핑 — 일부 구현(1회차 게시, 매주 자동 조사 확인 중). 발표 화면의 숫자는 데모 예시. 준비 중: 매출·손익, 재고·발주, 매니저 권한. 근거: 10/6 대표 실제 로그인으로 저장 확인, 보안 시험 7가지 통과. 직원 앱 실제 기록: 상동본점 오픈·마감 10건(9/29~10/10), 완료 제출 9건(김포공항점 10/10 1건 제외). 시간 절감·매출 효과는 미측정.
■ 넘김: 웃음이 잦아들면 7장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시연 ② 대표 운영 OS (Before &amp; After)
직접 보여 드리겠습니다. 아침 홈에 문제 있는 매장이 올라와 있습니다. 상동본점 마감 미완료를 열어 '문제 있음'을 누르고 메모를 쓰고 저장하면, 그대로 제 할 일이 됩니다. 예전엔 제가 매장 문제를 직접 찾아다녔다면, 이제는 문제를 확인하고 바로 할 일로 연결합니다.
■ 시연 ② 시작 — https://tteokgiri-owner-os-demo.vercel.app (7장 '대표 OS 데모 열기' 버튼 · 클릭 약 40초)
  1) 열리면 바로 홈 "오늘 확인할 것" (로그인 없음)
  2) 아래 메뉴 "매장" → 떡기리 상동본점 "● 마감 미완료" 줄
  3) "문제 있음" → 메모 "매니저에게 어제 마감 확인 요청" → "저장"
  4) 아래 메뉴 "할 일" → 방금 만든 할 일 가리키기
■ 시연이 안 될 때: "준비한 화면으로 이어 가겠습니다." (7장 화면으로 설명)
■ 넘김: 시연 ② 끝 — 발표 화면으로 돌아와 8장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상품 마스터 · 가격·수익성 계산기
신메뉴를 낼 때 제일 궁금한 건, 이거 하나 팔면 얼마 남지? 원가, 수수료, 폐기까지 넣으면 개당 이익이 바로 나옵니다. 화면 숫자는 예시입니다.
■ 넘김: 바로 넘김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입점 타당성 계산기
공항이나 백화점 입점 제안이 오면 수수료, 임대료, 인건비를 넣습니다. 그러면 손익분기점과, 임대료나 수수료를 어디까지 받아들여도 되는지 계약 조건이 나옵니다. GO·위험도 하는 데모 예시 결과입니다.
■ 넘김: "데모 예시 결과입니다" 다음에 넘김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신규매장 오픈 관리
새 매장은 오픈 60일 전부터 30일 뒤까지 할 일을 관리하고, 늦어진 준비는 홈으로 올라옵니다.
■ 넘김: 바로 넘김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마케팅 보드
인스타그램, 네이버, 이벤트, 신메뉴 출시까지 마케팅 아이디어와 일정을 한곳에 모읍니다.
■ 넘김: 바로 넘김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AI 시장 브리핑 (막혔던 점)
AI가 떡과 K-디저트 시장 소식을 출처와 함께 정리해 둡니다. 첫 회차 8건은 올라가 있는데, 매주 자동으로 조사하게 하는 건 아직 확인 중입니다. 이 부분은 아직 숙제입니다.
■ 넘김: 바로 넘김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인스타→스레드 콘텐츠 변환 도구
다음은 장사스쿨 과제로 만든 콘텐츠 변환기입니다. 글을 직접 써 주는 건 아니고, 주제를 넣으면 프롬프트를 만들어 줍니다. 그걸 ChatGPT나 클로드에 붙여넣으면, 같은 선물세트 이야기가 스레드에서는 사장님 말투가 됩니다.
■ 참고: index.html 한 장짜리 웹 도구(외부 AI 연결 없음). 주제·사진 설명·목적 → 인스타 설계 프롬프트 + 스레드 변환 프롬프트 생성. Claude 아티팩트로 공개. 화면 글은 '떡 선물세트' 실행 예시에서 가져오고 과장 표현 한 곳을 다듬음.
■ 넘김: "사장님 말투가 됩니다" 다음에 넘김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떡기리 브랜드 홈페이지
마지막으로, 대표 운영 OS와 별도로 고객이 보는 떡기리 홈페이지도 AI와 함께 만들었습니다. 브랜드 이야기, 대표 상품, 선물세트, 매장 안내를 담았습니다.
■ 참고: https://ddeokgiri-v2.vercel.app (실제 공개 사이트). 실시간 시연은 하지 않음.
■ 넘김: "매장 안내를 담았습니다" 다음에 15장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마무리 (Before &amp; After · 앞으로 · 에피소드 ③④)
만들고 나니 생각이 바뀌었습니다. 처음엔 직원 교육 도구라고 생각했는데, 결국 제가 매장을 관리하는 방식이 바뀌었습니다. 물어보던 확인이 기록으로 바뀌었고요. 아직 부족한 것도 있습니다. 직원들이 기록을 빠뜨리는 날이 있고, 시간이 얼마나 줄었는지는 아직 재지 못했습니다. 앞으로는 매니저가 자기 매장을 직접 확인하게 하고, 매출과 재고도 연결해 보려고 합니다. (잠깐 멈춤) 처음엔 GitHub를 몰라 조카와 사촌을 찾아다녔는데, 이제는 중학생 조카가 저한테 GitHub가 뭐냐고 묻습니다. 어깨가 으쓱했습니다. (잠깐 멈춤 — 웃음) 그리고 이번에 배민에서 클로드 맥스를 지원해 주셔서 정말 감사합니다. 프로그램 개발하는 조카가 토큰이 넉넉하다고 저보다 더 신나하더라고요. (잠깐 멈춤 — 웃음) AI를 잘 알아서 시작한 게 아닙니다. 필요한 일이 있어서 배우기 시작했습니다. 감사합니다.
■ 넘김: 발표 끝 — 질문 받기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PER">
    <p:bg>
      <p:bgPr>
        <a:solidFill>
          <a:srgbClr val="F7F4EC"/>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tteokgiri-onlinebook-demo.vercel.app" TargetMode="External"/><Relationship Id="rId3" Type="http://schemas.openxmlformats.org/officeDocument/2006/relationships/hyperlink" Target="https://tteokgiri-onlinebook-demo.vercel.app" TargetMode="External"/><Relationship Id="rId1" Type="http://schemas.openxmlformats.org/officeDocument/2006/relationships/image" Target="../media/image-4-1.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tteokgiri-owner-os-demo.vercel.app" TargetMode="External"/><Relationship Id="rId2" Type="http://schemas.openxmlformats.org/officeDocument/2006/relationships/hyperlink" Target="https://tteokgiri-owner-os-demo.vercel.app" TargetMode="External"/><Relationship Id="rId3" Type="http://schemas.openxmlformats.org/officeDocument/2006/relationships/image" Target="../media/image-6-1.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tteokgiri-owner-os-demo.vercel.app" TargetMode="External"/><Relationship Id="rId4" Type="http://schemas.openxmlformats.org/officeDocument/2006/relationships/hyperlink" Target="https://tteokgiri-owner-os-demo.vercel.app" TargetMode="External"/><Relationship Id="rId1" Type="http://schemas.openxmlformats.org/officeDocument/2006/relationships/image" Target="../media/image-7-1.png"/><Relationship Id="rId2" Type="http://schemas.openxmlformats.org/officeDocument/2006/relationships/image" Target="../media/image-7-2.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tteokgiri-owner-os-demo.vercel.app/#/entry" TargetMode="External"/><Relationship Id="rId2" Type="http://schemas.openxmlformats.org/officeDocument/2006/relationships/hyperlink" Target="https://tteokgiri-owner-os-demo.vercel.app/#/entry" TargetMode="External"/><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ddeokgiri-v2.vercel.app/" TargetMode="External"/><Relationship Id="rId3" Type="http://schemas.openxmlformats.org/officeDocument/2006/relationships/hyperlink" Target="https://ddeokgiri-v2.vercel.app/" TargetMode="External"/><Relationship Id="rId1" Type="http://schemas.openxmlformats.org/officeDocument/2006/relationships/image" Target="../media/image-14-1.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떡기리 발표 이미지">    </p:cNvPr>
          <p:cNvPicPr>
            <a:picLocks noChangeAspect="1"/>
          </p:cNvPicPr>
          <p:nvPr/>
        </p:nvPicPr>
        <p:blipFill>
          <a:blip r:embed="rId1"/>
          <a:srcRect l="0" r="0" t="0" b="0"/>
          <a:stretch/>
        </p:blipFill>
        <p:spPr>
          <a:xfrm>
            <a:off x="5760720" y="457200"/>
            <a:ext cx="5897880" cy="3877056"/>
          </a:xfrm>
          <a:prstGeom prst="rect">
            <a:avLst/>
          </a:prstGeom>
        </p:spPr>
      </p:pic>
      <p:sp>
        <p:nvSpPr>
          <p:cNvPr id="3" name="Text 0"/>
          <p:cNvSpPr txBox="1"/>
          <p:nvPr/>
        </p:nvSpPr>
        <p:spPr>
          <a:xfrm>
            <a:off x="9692640" y="3931920"/>
            <a:ext cx="1783080" cy="274320"/>
          </a:xfrm>
          <a:prstGeom prst="roundRect">
            <a:avLst>
              <a:gd name="adj" fmla="val 50000"/>
            </a:avLst>
          </a:prstGeom>
          <a:solidFill>
            <a:srgbClr val="1E4A44"/>
          </a:solid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떡기리 실제 상품 사진</a:t>
            </a:r>
            <a:endParaRPr lang="en-US" sz="1050" dirty="0"/>
          </a:p>
        </p:txBody>
      </p:sp>
      <p:sp>
        <p:nvSpPr>
          <p:cNvPr id="4" name="Text 1"/>
          <p:cNvSpPr txBox="1"/>
          <p:nvPr/>
        </p:nvSpPr>
        <p:spPr>
          <a:xfrm>
            <a:off x="685800" y="502920"/>
            <a:ext cx="4846320" cy="2606040"/>
          </a:xfrm>
          <a:prstGeom prst="rect">
            <a:avLst/>
          </a:prstGeom>
          <a:noFill/>
          <a:ln/>
        </p:spPr>
        <p:txBody>
          <a:bodyPr wrap="square" lIns="0" tIns="0" rIns="0" bIns="0" rtlCol="0" anchor="t"/>
          <a:lstStyle/>
          <a:p>
            <a:pPr indent="0" marL="0">
              <a:lnSpc>
                <a:spcPct val="102000"/>
              </a:lnSpc>
              <a:buNone/>
            </a:pPr>
            <a:r>
              <a:rPr lang="en-US" sz="3800" b="1" dirty="0">
                <a:solidFill>
                  <a:srgbClr val="17221F"/>
                </a:solidFill>
                <a:latin typeface="Malgun Gothic" pitchFamily="34" charset="0"/>
                <a:ea typeface="Malgun Gothic" pitchFamily="34" charset="-122"/>
                <a:cs typeface="Malgun Gothic" pitchFamily="34" charset="-120"/>
              </a:rPr>
              <a:t>AI로 시작한</a:t>
            </a:r>
            <a:endParaRPr lang="en-US" sz="3800" dirty="0"/>
          </a:p>
          <a:p>
            <a:pPr indent="0" marL="0">
              <a:lnSpc>
                <a:spcPct val="102000"/>
              </a:lnSpc>
              <a:buNone/>
            </a:pPr>
            <a:r>
              <a:rPr lang="en-US" sz="3800" b="1" dirty="0">
                <a:solidFill>
                  <a:srgbClr val="17221F"/>
                </a:solidFill>
                <a:latin typeface="Malgun Gothic" pitchFamily="34" charset="0"/>
                <a:ea typeface="Malgun Gothic" pitchFamily="34" charset="-122"/>
                <a:cs typeface="Malgun Gothic" pitchFamily="34" charset="-120"/>
              </a:rPr>
              <a:t>작은 변화,</a:t>
            </a:r>
            <a:endParaRPr lang="en-US" sz="3800" dirty="0"/>
          </a:p>
          <a:p>
            <a:pPr indent="0" marL="0">
              <a:lnSpc>
                <a:spcPct val="102000"/>
              </a:lnSpc>
              <a:buNone/>
            </a:pPr>
            <a:r>
              <a:rPr lang="en-US" sz="3800" b="1" dirty="0">
                <a:solidFill>
                  <a:srgbClr val="17221F"/>
                </a:solidFill>
                <a:latin typeface="Malgun Gothic" pitchFamily="34" charset="0"/>
                <a:ea typeface="Malgun Gothic" pitchFamily="34" charset="-122"/>
                <a:cs typeface="Malgun Gothic" pitchFamily="34" charset="-120"/>
              </a:rPr>
              <a:t>12가지 경영 도구로</a:t>
            </a:r>
            <a:endParaRPr lang="en-US" sz="3800" dirty="0"/>
          </a:p>
          <a:p>
            <a:pPr indent="0" marL="0">
              <a:lnSpc>
                <a:spcPct val="102000"/>
              </a:lnSpc>
              <a:buNone/>
            </a:pPr>
            <a:r>
              <a:rPr lang="en-US" sz="3800" b="1" dirty="0">
                <a:solidFill>
                  <a:srgbClr val="17221F"/>
                </a:solidFill>
                <a:latin typeface="Malgun Gothic" pitchFamily="34" charset="0"/>
                <a:ea typeface="Malgun Gothic" pitchFamily="34" charset="-122"/>
                <a:cs typeface="Malgun Gothic" pitchFamily="34" charset="-120"/>
              </a:rPr>
              <a:t>확장되다</a:t>
            </a:r>
            <a:endParaRPr lang="en-US" sz="3800" dirty="0"/>
          </a:p>
        </p:txBody>
      </p:sp>
      <p:sp>
        <p:nvSpPr>
          <p:cNvPr id="5" name="Text 2"/>
          <p:cNvSpPr txBox="1"/>
          <p:nvPr/>
        </p:nvSpPr>
        <p:spPr>
          <a:xfrm>
            <a:off x="685800" y="3246120"/>
            <a:ext cx="4846320" cy="777240"/>
          </a:xfrm>
          <a:prstGeom prst="rect">
            <a:avLst/>
          </a:prstGeom>
          <a:noFill/>
          <a:ln/>
        </p:spPr>
        <p:txBody>
          <a:bodyPr wrap="square" lIns="0" tIns="0" rIns="0" bIns="0" rtlCol="0" anchor="t"/>
          <a:lstStyle/>
          <a:p>
            <a:pPr indent="0" marL="0">
              <a:lnSpc>
                <a:spcPct val="110000"/>
              </a:lnSpc>
              <a:buNone/>
            </a:pPr>
            <a:r>
              <a:rPr lang="en-US" sz="1800" b="1" dirty="0">
                <a:solidFill>
                  <a:srgbClr val="103D3A"/>
                </a:solidFill>
                <a:latin typeface="Malgun Gothic" pitchFamily="34" charset="0"/>
                <a:ea typeface="Malgun Gothic" pitchFamily="34" charset="-122"/>
                <a:cs typeface="Malgun Gothic" pitchFamily="34" charset="-120"/>
              </a:rPr>
              <a:t>직원 교육에서 매장 운영과</a:t>
            </a:r>
            <a:endParaRPr lang="en-US" sz="1800" dirty="0"/>
          </a:p>
          <a:p>
            <a:pPr indent="0" marL="0">
              <a:lnSpc>
                <a:spcPct val="110000"/>
              </a:lnSpc>
              <a:buNone/>
            </a:pPr>
            <a:r>
              <a:rPr lang="en-US" sz="1800" b="1" dirty="0">
                <a:solidFill>
                  <a:srgbClr val="103D3A"/>
                </a:solidFill>
                <a:latin typeface="Malgun Gothic" pitchFamily="34" charset="0"/>
                <a:ea typeface="Malgun Gothic" pitchFamily="34" charset="-122"/>
                <a:cs typeface="Malgun Gothic" pitchFamily="34" charset="-120"/>
              </a:rPr>
              <a:t>경영 의사결정까지</a:t>
            </a:r>
            <a:endParaRPr lang="en-US" sz="1800" dirty="0"/>
          </a:p>
        </p:txBody>
      </p:sp>
      <p:sp>
        <p:nvSpPr>
          <p:cNvPr id="6" name="Shape 3"/>
          <p:cNvSpPr/>
          <p:nvPr/>
        </p:nvSpPr>
        <p:spPr>
          <a:xfrm>
            <a:off x="685800" y="4480560"/>
            <a:ext cx="4846320" cy="1463040"/>
          </a:xfrm>
          <a:prstGeom prst="rect">
            <a:avLst/>
          </a:prstGeom>
          <a:solidFill>
            <a:srgbClr val="103D3A"/>
          </a:solidFill>
          <a:ln/>
        </p:spPr>
      </p:sp>
      <p:pic>
        <p:nvPicPr>
          <p:cNvPr id="7" name="Image 1" descr="떡기리 발표 이미지">    </p:cNvPr>
          <p:cNvPicPr>
            <a:picLocks noChangeAspect="1"/>
          </p:cNvPicPr>
          <p:nvPr/>
        </p:nvPicPr>
        <p:blipFill>
          <a:blip r:embed="rId2"/>
          <a:stretch>
            <a:fillRect/>
          </a:stretch>
        </p:blipFill>
        <p:spPr>
          <a:xfrm>
            <a:off x="960120" y="4800600"/>
            <a:ext cx="2194560" cy="349035"/>
          </a:xfrm>
          <a:prstGeom prst="rect">
            <a:avLst/>
          </a:prstGeom>
        </p:spPr>
      </p:pic>
      <p:sp>
        <p:nvSpPr>
          <p:cNvPr id="8" name="Text 4"/>
          <p:cNvSpPr txBox="1"/>
          <p:nvPr/>
        </p:nvSpPr>
        <p:spPr>
          <a:xfrm>
            <a:off x="960120" y="5349240"/>
            <a:ext cx="4480560" cy="320040"/>
          </a:xfrm>
          <a:prstGeom prst="rect">
            <a:avLst/>
          </a:prstGeom>
          <a:noFill/>
          <a:ln/>
        </p:spPr>
        <p:txBody>
          <a:bodyPr wrap="square" lIns="0" tIns="0" rIns="0" bIns="0" rtlCol="0" anchor="t"/>
          <a:lstStyle/>
          <a:p>
            <a:pPr indent="0" marL="0">
              <a:buNone/>
            </a:pPr>
            <a:r>
              <a:rPr lang="en-US" sz="1300" dirty="0">
                <a:solidFill>
                  <a:srgbClr val="A9C2BC"/>
                </a:solidFill>
                <a:latin typeface="Malgun Gothic" pitchFamily="34" charset="0"/>
                <a:ea typeface="Malgun Gothic" pitchFamily="34" charset="-122"/>
                <a:cs typeface="Malgun Gothic" pitchFamily="34" charset="-120"/>
              </a:rPr>
              <a:t>배민아카데미 AI 장사스쿨 · 2026년 10월 14일</a:t>
            </a:r>
            <a:endParaRPr lang="en-US" sz="1300" dirty="0"/>
          </a:p>
        </p:txBody>
      </p:sp>
      <p:sp>
        <p:nvSpPr>
          <p:cNvPr id="9" name="Shape 5"/>
          <p:cNvSpPr/>
          <p:nvPr/>
        </p:nvSpPr>
        <p:spPr>
          <a:xfrm>
            <a:off x="5760720" y="4480560"/>
            <a:ext cx="5897880" cy="1463040"/>
          </a:xfrm>
          <a:prstGeom prst="rect">
            <a:avLst/>
          </a:prstGeom>
          <a:solidFill>
            <a:srgbClr val="0B2C29"/>
          </a:solidFill>
          <a:ln/>
        </p:spPr>
      </p:sp>
      <p:sp>
        <p:nvSpPr>
          <p:cNvPr id="10" name="Text 6"/>
          <p:cNvSpPr txBox="1"/>
          <p:nvPr/>
        </p:nvSpPr>
        <p:spPr>
          <a:xfrm>
            <a:off x="6035040" y="4553712"/>
            <a:ext cx="914400" cy="777240"/>
          </a:xfrm>
          <a:prstGeom prst="rect">
            <a:avLst/>
          </a:prstGeom>
          <a:noFill/>
          <a:ln/>
        </p:spPr>
        <p:txBody>
          <a:bodyPr wrap="square" lIns="0" tIns="0" rIns="0" bIns="0"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12</a:t>
            </a:r>
            <a:endParaRPr lang="en-US" sz="4000" dirty="0"/>
          </a:p>
        </p:txBody>
      </p:sp>
      <p:sp>
        <p:nvSpPr>
          <p:cNvPr id="11" name="Text 7"/>
          <p:cNvSpPr txBox="1"/>
          <p:nvPr/>
        </p:nvSpPr>
        <p:spPr>
          <a:xfrm>
            <a:off x="6995160" y="4709160"/>
            <a:ext cx="1783080" cy="502920"/>
          </a:xfrm>
          <a:prstGeom prst="rect">
            <a:avLst/>
          </a:prstGeom>
          <a:noFill/>
          <a:ln/>
        </p:spPr>
        <p:txBody>
          <a:bodyPr wrap="square" lIns="0" tIns="0" rIns="0" bIns="0" rtlCol="0" anchor="ctr"/>
          <a:lstStyle/>
          <a:p>
            <a:pPr indent="0" marL="0">
              <a:buNone/>
            </a:pPr>
            <a:r>
              <a:rPr lang="en-US" sz="1500" b="1" dirty="0">
                <a:solidFill>
                  <a:srgbClr val="C9A46A"/>
                </a:solidFill>
                <a:latin typeface="Malgun Gothic" pitchFamily="34" charset="0"/>
                <a:ea typeface="Malgun Gothic" pitchFamily="34" charset="-122"/>
                <a:cs typeface="Malgun Gothic" pitchFamily="34" charset="-120"/>
              </a:rPr>
              <a:t>가지 경영 기능</a:t>
            </a:r>
            <a:endParaRPr lang="en-US" sz="1500" dirty="0"/>
          </a:p>
        </p:txBody>
      </p:sp>
      <p:sp>
        <p:nvSpPr>
          <p:cNvPr id="12" name="Text 8"/>
          <p:cNvSpPr txBox="1"/>
          <p:nvPr/>
        </p:nvSpPr>
        <p:spPr>
          <a:xfrm>
            <a:off x="8869680" y="4553712"/>
            <a:ext cx="914400" cy="777240"/>
          </a:xfrm>
          <a:prstGeom prst="rect">
            <a:avLst/>
          </a:prstGeom>
          <a:noFill/>
          <a:ln/>
        </p:spPr>
        <p:txBody>
          <a:bodyPr wrap="square" lIns="0" tIns="0" rIns="0" bIns="0"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1</a:t>
            </a:r>
            <a:endParaRPr lang="en-US" sz="4000" dirty="0"/>
          </a:p>
        </p:txBody>
      </p:sp>
      <p:sp>
        <p:nvSpPr>
          <p:cNvPr id="13" name="Text 9"/>
          <p:cNvSpPr txBox="1"/>
          <p:nvPr/>
        </p:nvSpPr>
        <p:spPr>
          <a:xfrm>
            <a:off x="9829800" y="4709160"/>
            <a:ext cx="1783080" cy="502920"/>
          </a:xfrm>
          <a:prstGeom prst="rect">
            <a:avLst/>
          </a:prstGeom>
          <a:noFill/>
          <a:ln/>
        </p:spPr>
        <p:txBody>
          <a:bodyPr wrap="square" lIns="0" tIns="0" rIns="0" bIns="0" rtlCol="0" anchor="ctr"/>
          <a:lstStyle/>
          <a:p>
            <a:pPr indent="0" marL="0">
              <a:buNone/>
            </a:pPr>
            <a:r>
              <a:rPr lang="en-US" sz="1500" b="1" dirty="0">
                <a:solidFill>
                  <a:srgbClr val="C9A46A"/>
                </a:solidFill>
                <a:latin typeface="Malgun Gothic" pitchFamily="34" charset="0"/>
                <a:ea typeface="Malgun Gothic" pitchFamily="34" charset="-122"/>
                <a:cs typeface="Malgun Gothic" pitchFamily="34" charset="-120"/>
              </a:rPr>
              <a:t>하나의 운영 시스템</a:t>
            </a:r>
            <a:endParaRPr lang="en-US" sz="1500" dirty="0"/>
          </a:p>
        </p:txBody>
      </p:sp>
      <p:sp>
        <p:nvSpPr>
          <p:cNvPr id="14" name="Text 10"/>
          <p:cNvSpPr txBox="1"/>
          <p:nvPr/>
        </p:nvSpPr>
        <p:spPr>
          <a:xfrm>
            <a:off x="6035040" y="5440680"/>
            <a:ext cx="5486400" cy="320040"/>
          </a:xfrm>
          <a:prstGeom prst="rect">
            <a:avLst/>
          </a:prstGeom>
          <a:noFill/>
          <a:ln/>
        </p:spPr>
        <p:txBody>
          <a:bodyPr wrap="square" lIns="0" tIns="0" rIns="0" bIns="0" rtlCol="0" anchor="t"/>
          <a:lstStyle/>
          <a:p>
            <a:pPr indent="0" marL="0">
              <a:buNone/>
            </a:pPr>
            <a:r>
              <a:rPr lang="en-US" sz="1250" dirty="0">
                <a:solidFill>
                  <a:srgbClr val="A9C2BC"/>
                </a:solidFill>
                <a:latin typeface="Malgun Gothic" pitchFamily="34" charset="0"/>
                <a:ea typeface="Malgun Gothic" pitchFamily="34" charset="-122"/>
                <a:cs typeface="Malgun Gothic" pitchFamily="34" charset="-120"/>
              </a:rPr>
              <a:t>직원교육 온라인북 · 대표 운영 OS · 홈페이지 · 콘텐츠 도구</a:t>
            </a:r>
            <a:endParaRPr lang="en-US" sz="1250" dirty="0"/>
          </a:p>
        </p:txBody>
      </p:sp>
      <p:sp>
        <p:nvSpPr>
          <p:cNvPr id="15" name="Shape 11"/>
          <p:cNvSpPr/>
          <p:nvPr/>
        </p:nvSpPr>
        <p:spPr>
          <a:xfrm>
            <a:off x="685800" y="6400800"/>
            <a:ext cx="1188720" cy="41148"/>
          </a:xfrm>
          <a:prstGeom prst="rect">
            <a:avLst/>
          </a:prstGeom>
          <a:solidFill>
            <a:srgbClr val="103D3A"/>
          </a:solidFill>
          <a:ln/>
        </p:spPr>
      </p:sp>
      <p:sp>
        <p:nvSpPr>
          <p:cNvPr id="16" name="Shape 12"/>
          <p:cNvSpPr/>
          <p:nvPr/>
        </p:nvSpPr>
        <p:spPr>
          <a:xfrm>
            <a:off x="1874520" y="6420917"/>
            <a:ext cx="9784080" cy="0"/>
          </a:xfrm>
          <a:prstGeom prst="line">
            <a:avLst/>
          </a:prstGeom>
          <a:noFill/>
          <a:ln w="9525">
            <a:solidFill>
              <a:srgbClr val="D9D3C5"/>
            </a:solidFill>
            <a:prstDash val="solid"/>
          </a:ln>
        </p:spPr>
      </p:sp>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떡기리 발표 이미지">    </p:cNvPr>
          <p:cNvPicPr>
            <a:picLocks noChangeAspect="1"/>
          </p:cNvPicPr>
          <p:nvPr/>
        </p:nvPicPr>
        <p:blipFill>
          <a:blip r:embed="rId1"/>
          <a:srcRect l="0" r="0" t="0" b="0"/>
          <a:stretch/>
        </p:blipFill>
        <p:spPr>
          <a:xfrm>
            <a:off x="0" y="0"/>
            <a:ext cx="4937760" cy="6858000"/>
          </a:xfrm>
          <a:prstGeom prst="rect">
            <a:avLst/>
          </a:prstGeom>
        </p:spPr>
      </p:pic>
      <p:sp>
        <p:nvSpPr>
          <p:cNvPr id="3" name="Text 0"/>
          <p:cNvSpPr txBox="1"/>
          <p:nvPr/>
        </p:nvSpPr>
        <p:spPr>
          <a:xfrm>
            <a:off x="274320" y="6355080"/>
            <a:ext cx="2926080" cy="274320"/>
          </a:xfrm>
          <a:prstGeom prst="roundRect">
            <a:avLst>
              <a:gd name="adj" fmla="val 50000"/>
            </a:avLst>
          </a:prstGeom>
          <a:solidFill>
            <a:srgbClr val="1E4A44"/>
          </a:solid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떡기리 매장 · 실제 사진 · 손님 얼굴 흐림</a:t>
            </a:r>
            <a:endParaRPr lang="en-US" sz="1050" dirty="0"/>
          </a:p>
        </p:txBody>
      </p:sp>
      <p:sp>
        <p:nvSpPr>
          <p:cNvPr id="4" name="Text 1"/>
          <p:cNvSpPr txBox="1"/>
          <p:nvPr/>
        </p:nvSpPr>
        <p:spPr>
          <a:xfrm>
            <a:off x="5486400" y="731520"/>
            <a:ext cx="3657600" cy="320040"/>
          </a:xfrm>
          <a:prstGeom prst="rect">
            <a:avLst/>
          </a:prstGeom>
          <a:noFill/>
          <a:ln/>
        </p:spPr>
        <p:txBody>
          <a:bodyPr wrap="square" lIns="0" tIns="0" rIns="0" bIns="0" rtlCol="0" anchor="t"/>
          <a:lstStyle/>
          <a:p>
            <a:pPr indent="0" marL="0">
              <a:buNone/>
            </a:pPr>
            <a:r>
              <a:rPr lang="en-US" sz="1400" b="1" spc="100" kern="0" dirty="0">
                <a:solidFill>
                  <a:srgbClr val="C9A46A"/>
                </a:solidFill>
                <a:latin typeface="Malgun Gothic" pitchFamily="34" charset="0"/>
                <a:ea typeface="Malgun Gothic" pitchFamily="34" charset="-122"/>
                <a:cs typeface="Malgun Gothic" pitchFamily="34" charset="-120"/>
              </a:rPr>
              <a:t>SINCE 1972</a:t>
            </a:r>
            <a:endParaRPr lang="en-US" sz="1400" dirty="0"/>
          </a:p>
        </p:txBody>
      </p:sp>
      <p:sp>
        <p:nvSpPr>
          <p:cNvPr id="5" name="Text 2"/>
          <p:cNvSpPr txBox="1"/>
          <p:nvPr/>
        </p:nvSpPr>
        <p:spPr>
          <a:xfrm>
            <a:off x="5486400" y="1097280"/>
            <a:ext cx="6172200" cy="1463040"/>
          </a:xfrm>
          <a:prstGeom prst="rect">
            <a:avLst/>
          </a:prstGeom>
          <a:noFill/>
          <a:ln/>
        </p:spPr>
        <p:txBody>
          <a:bodyPr wrap="square" lIns="0" tIns="0" rIns="0" bIns="0" rtlCol="0" anchor="t"/>
          <a:lstStyle/>
          <a:p>
            <a:pPr indent="0" marL="0">
              <a:lnSpc>
                <a:spcPct val="105000"/>
              </a:lnSpc>
              <a:buNone/>
            </a:pPr>
            <a:r>
              <a:rPr lang="en-US" sz="3800" b="1" dirty="0">
                <a:solidFill>
                  <a:srgbClr val="17221F"/>
                </a:solidFill>
                <a:latin typeface="Malgun Gothic" pitchFamily="34" charset="0"/>
                <a:ea typeface="Malgun Gothic" pitchFamily="34" charset="-122"/>
                <a:cs typeface="Malgun Gothic" pitchFamily="34" charset="-120"/>
              </a:rPr>
              <a:t>3대째 방앗간에서</a:t>
            </a:r>
            <a:endParaRPr lang="en-US" sz="3800" dirty="0"/>
          </a:p>
          <a:p>
            <a:pPr indent="0" marL="0">
              <a:lnSpc>
                <a:spcPct val="105000"/>
              </a:lnSpc>
              <a:buNone/>
            </a:pPr>
            <a:r>
              <a:rPr lang="en-US" sz="3800" b="1" dirty="0">
                <a:solidFill>
                  <a:srgbClr val="17221F"/>
                </a:solidFill>
                <a:latin typeface="Malgun Gothic" pitchFamily="34" charset="0"/>
                <a:ea typeface="Malgun Gothic" pitchFamily="34" charset="-122"/>
                <a:cs typeface="Malgun Gothic" pitchFamily="34" charset="-120"/>
              </a:rPr>
              <a:t>시작된 떡기리</a:t>
            </a:r>
            <a:endParaRPr lang="en-US" sz="3800" dirty="0"/>
          </a:p>
        </p:txBody>
      </p:sp>
      <p:sp>
        <p:nvSpPr>
          <p:cNvPr id="6" name="Text 3"/>
          <p:cNvSpPr txBox="1"/>
          <p:nvPr/>
        </p:nvSpPr>
        <p:spPr>
          <a:xfrm>
            <a:off x="5486400" y="2788920"/>
            <a:ext cx="6172200" cy="868680"/>
          </a:xfrm>
          <a:prstGeom prst="rect">
            <a:avLst/>
          </a:prstGeom>
          <a:noFill/>
          <a:ln/>
        </p:spPr>
        <p:txBody>
          <a:bodyPr wrap="square" lIns="0" tIns="0" rIns="0" bIns="0" rtlCol="0" anchor="t"/>
          <a:lstStyle/>
          <a:p>
            <a:pPr indent="0" marL="0">
              <a:lnSpc>
                <a:spcPct val="115000"/>
              </a:lnSpc>
              <a:buNone/>
            </a:pPr>
            <a:r>
              <a:rPr lang="en-US" sz="2000" b="1" dirty="0">
                <a:solidFill>
                  <a:srgbClr val="103D3A"/>
                </a:solidFill>
                <a:latin typeface="Malgun Gothic" pitchFamily="34" charset="0"/>
                <a:ea typeface="Malgun Gothic" pitchFamily="34" charset="-122"/>
                <a:cs typeface="Malgun Gothic" pitchFamily="34" charset="-120"/>
              </a:rPr>
              <a:t>방부제도, 색소도, 첨가물도 없이</a:t>
            </a:r>
            <a:endParaRPr lang="en-US" sz="2000" dirty="0"/>
          </a:p>
          <a:p>
            <a:pPr indent="0" marL="0">
              <a:lnSpc>
                <a:spcPct val="115000"/>
              </a:lnSpc>
              <a:buNone/>
            </a:pPr>
            <a:r>
              <a:rPr lang="en-US" sz="2000" b="1" dirty="0">
                <a:solidFill>
                  <a:srgbClr val="103D3A"/>
                </a:solidFill>
                <a:latin typeface="Malgun Gothic" pitchFamily="34" charset="0"/>
                <a:ea typeface="Malgun Gothic" pitchFamily="34" charset="-122"/>
                <a:cs typeface="Malgun Gothic" pitchFamily="34" charset="-120"/>
              </a:rPr>
              <a:t>원래 재료의 맛으로</a:t>
            </a:r>
            <a:endParaRPr lang="en-US" sz="2000" dirty="0"/>
          </a:p>
        </p:txBody>
      </p:sp>
      <p:sp>
        <p:nvSpPr>
          <p:cNvPr id="7" name="Text 4"/>
          <p:cNvSpPr txBox="1"/>
          <p:nvPr/>
        </p:nvSpPr>
        <p:spPr>
          <a:xfrm>
            <a:off x="5486400" y="4160520"/>
            <a:ext cx="2011680" cy="731520"/>
          </a:xfrm>
          <a:prstGeom prst="rect">
            <a:avLst/>
          </a:prstGeom>
          <a:noFill/>
          <a:ln/>
        </p:spPr>
        <p:txBody>
          <a:bodyPr wrap="square" lIns="0" tIns="0" rIns="0" bIns="0" rtlCol="0" anchor="ctr"/>
          <a:lstStyle/>
          <a:p>
            <a:pPr indent="0" marL="0">
              <a:buNone/>
            </a:pPr>
            <a:r>
              <a:rPr lang="en-US" sz="3400" b="1" dirty="0">
                <a:solidFill>
                  <a:srgbClr val="103D3A"/>
                </a:solidFill>
                <a:latin typeface="Malgun Gothic" pitchFamily="34" charset="0"/>
                <a:ea typeface="Malgun Gothic" pitchFamily="34" charset="-122"/>
                <a:cs typeface="Malgun Gothic" pitchFamily="34" charset="-120"/>
              </a:rPr>
              <a:t>1972</a:t>
            </a:r>
            <a:endParaRPr lang="en-US" sz="3400" dirty="0"/>
          </a:p>
        </p:txBody>
      </p:sp>
      <p:sp>
        <p:nvSpPr>
          <p:cNvPr id="8" name="Text 5"/>
          <p:cNvSpPr txBox="1"/>
          <p:nvPr/>
        </p:nvSpPr>
        <p:spPr>
          <a:xfrm>
            <a:off x="5486400" y="4892040"/>
            <a:ext cx="2011680" cy="320040"/>
          </a:xfrm>
          <a:prstGeom prst="rect">
            <a:avLst/>
          </a:prstGeom>
          <a:noFill/>
          <a:ln/>
        </p:spPr>
        <p:txBody>
          <a:bodyPr wrap="square" lIns="0" tIns="0" rIns="0" bIns="0" rtlCol="0" anchor="t"/>
          <a:lstStyle/>
          <a:p>
            <a:pPr indent="0" marL="0">
              <a:buNone/>
            </a:pPr>
            <a:r>
              <a:rPr lang="en-US" sz="1400" dirty="0">
                <a:solidFill>
                  <a:srgbClr val="77746B"/>
                </a:solidFill>
                <a:latin typeface="Malgun Gothic" pitchFamily="34" charset="0"/>
                <a:ea typeface="Malgun Gothic" pitchFamily="34" charset="-122"/>
                <a:cs typeface="Malgun Gothic" pitchFamily="34" charset="-120"/>
              </a:rPr>
              <a:t>방앗간의 시작</a:t>
            </a:r>
            <a:endParaRPr lang="en-US" sz="1400" dirty="0"/>
          </a:p>
        </p:txBody>
      </p:sp>
      <p:sp>
        <p:nvSpPr>
          <p:cNvPr id="9" name="Text 6"/>
          <p:cNvSpPr txBox="1"/>
          <p:nvPr/>
        </p:nvSpPr>
        <p:spPr>
          <a:xfrm>
            <a:off x="7571232" y="4160520"/>
            <a:ext cx="2011680" cy="731520"/>
          </a:xfrm>
          <a:prstGeom prst="rect">
            <a:avLst/>
          </a:prstGeom>
          <a:noFill/>
          <a:ln/>
        </p:spPr>
        <p:txBody>
          <a:bodyPr wrap="square" lIns="0" tIns="0" rIns="0" bIns="0" rtlCol="0" anchor="ctr"/>
          <a:lstStyle/>
          <a:p>
            <a:pPr indent="0" marL="0">
              <a:buNone/>
            </a:pPr>
            <a:r>
              <a:rPr lang="en-US" sz="3400" b="1" dirty="0">
                <a:solidFill>
                  <a:srgbClr val="103D3A"/>
                </a:solidFill>
                <a:latin typeface="Malgun Gothic" pitchFamily="34" charset="0"/>
                <a:ea typeface="Malgun Gothic" pitchFamily="34" charset="-122"/>
                <a:cs typeface="Malgun Gothic" pitchFamily="34" charset="-120"/>
              </a:rPr>
              <a:t>3대째</a:t>
            </a:r>
            <a:endParaRPr lang="en-US" sz="3400" dirty="0"/>
          </a:p>
        </p:txBody>
      </p:sp>
      <p:sp>
        <p:nvSpPr>
          <p:cNvPr id="10" name="Text 7"/>
          <p:cNvSpPr txBox="1"/>
          <p:nvPr/>
        </p:nvSpPr>
        <p:spPr>
          <a:xfrm>
            <a:off x="7571232" y="4892040"/>
            <a:ext cx="2011680" cy="320040"/>
          </a:xfrm>
          <a:prstGeom prst="rect">
            <a:avLst/>
          </a:prstGeom>
          <a:noFill/>
          <a:ln/>
        </p:spPr>
        <p:txBody>
          <a:bodyPr wrap="square" lIns="0" tIns="0" rIns="0" bIns="0" rtlCol="0" anchor="t"/>
          <a:lstStyle/>
          <a:p>
            <a:pPr indent="0" marL="0">
              <a:buNone/>
            </a:pPr>
            <a:r>
              <a:rPr lang="en-US" sz="1400" dirty="0">
                <a:solidFill>
                  <a:srgbClr val="77746B"/>
                </a:solidFill>
                <a:latin typeface="Malgun Gothic" pitchFamily="34" charset="0"/>
                <a:ea typeface="Malgun Gothic" pitchFamily="34" charset="-122"/>
                <a:cs typeface="Malgun Gothic" pitchFamily="34" charset="-120"/>
              </a:rPr>
              <a:t>이어 온 방앗간</a:t>
            </a:r>
            <a:endParaRPr lang="en-US" sz="1400" dirty="0"/>
          </a:p>
        </p:txBody>
      </p:sp>
      <p:sp>
        <p:nvSpPr>
          <p:cNvPr id="11" name="Text 8"/>
          <p:cNvSpPr txBox="1"/>
          <p:nvPr/>
        </p:nvSpPr>
        <p:spPr>
          <a:xfrm>
            <a:off x="9656064" y="4160520"/>
            <a:ext cx="2011680" cy="731520"/>
          </a:xfrm>
          <a:prstGeom prst="rect">
            <a:avLst/>
          </a:prstGeom>
          <a:noFill/>
          <a:ln/>
        </p:spPr>
        <p:txBody>
          <a:bodyPr wrap="square" lIns="0" tIns="0" rIns="0" bIns="0" rtlCol="0" anchor="ctr"/>
          <a:lstStyle/>
          <a:p>
            <a:pPr indent="0" marL="0">
              <a:buNone/>
            </a:pPr>
            <a:r>
              <a:rPr lang="en-US" sz="3400" b="1" dirty="0">
                <a:solidFill>
                  <a:srgbClr val="103D3A"/>
                </a:solidFill>
                <a:latin typeface="Malgun Gothic" pitchFamily="34" charset="0"/>
                <a:ea typeface="Malgun Gothic" pitchFamily="34" charset="-122"/>
                <a:cs typeface="Malgun Gothic" pitchFamily="34" charset="-120"/>
              </a:rPr>
              <a:t>무첨가</a:t>
            </a:r>
            <a:endParaRPr lang="en-US" sz="3400" dirty="0"/>
          </a:p>
        </p:txBody>
      </p:sp>
      <p:sp>
        <p:nvSpPr>
          <p:cNvPr id="12" name="Text 9"/>
          <p:cNvSpPr txBox="1"/>
          <p:nvPr/>
        </p:nvSpPr>
        <p:spPr>
          <a:xfrm>
            <a:off x="9656064" y="4892040"/>
            <a:ext cx="2011680" cy="320040"/>
          </a:xfrm>
          <a:prstGeom prst="rect">
            <a:avLst/>
          </a:prstGeom>
          <a:noFill/>
          <a:ln/>
        </p:spPr>
        <p:txBody>
          <a:bodyPr wrap="square" lIns="0" tIns="0" rIns="0" bIns="0" rtlCol="0" anchor="t"/>
          <a:lstStyle/>
          <a:p>
            <a:pPr indent="0" marL="0">
              <a:buNone/>
            </a:pPr>
            <a:r>
              <a:rPr lang="en-US" sz="1400" dirty="0">
                <a:solidFill>
                  <a:srgbClr val="77746B"/>
                </a:solidFill>
                <a:latin typeface="Malgun Gothic" pitchFamily="34" charset="0"/>
                <a:ea typeface="Malgun Gothic" pitchFamily="34" charset="-122"/>
                <a:cs typeface="Malgun Gothic" pitchFamily="34" charset="-120"/>
              </a:rPr>
              <a:t>원래 재료의 맛</a:t>
            </a:r>
            <a:endParaRPr lang="en-US" sz="1400" dirty="0"/>
          </a:p>
        </p:txBody>
      </p:sp>
      <p:sp>
        <p:nvSpPr>
          <p:cNvPr id="13" name="Shape 10"/>
          <p:cNvSpPr/>
          <p:nvPr/>
        </p:nvSpPr>
        <p:spPr>
          <a:xfrm>
            <a:off x="5486400" y="6400800"/>
            <a:ext cx="1188720" cy="41148"/>
          </a:xfrm>
          <a:prstGeom prst="rect">
            <a:avLst/>
          </a:prstGeom>
          <a:solidFill>
            <a:srgbClr val="103D3A"/>
          </a:solidFill>
          <a:ln/>
        </p:spPr>
      </p:sp>
      <p:sp>
        <p:nvSpPr>
          <p:cNvPr id="14" name="Shape 11"/>
          <p:cNvSpPr/>
          <p:nvPr/>
        </p:nvSpPr>
        <p:spPr>
          <a:xfrm>
            <a:off x="6675120" y="6420917"/>
            <a:ext cx="4983480" cy="0"/>
          </a:xfrm>
          <a:prstGeom prst="line">
            <a:avLst/>
          </a:prstGeom>
          <a:noFill/>
          <a:ln w="9525">
            <a:solidFill>
              <a:srgbClr val="D9D3C5"/>
            </a:solidFill>
            <a:prstDash val="solid"/>
          </a:ln>
        </p:spPr>
      </p:sp>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640080"/>
            <a:ext cx="3657600" cy="320040"/>
          </a:xfrm>
          <a:prstGeom prst="rect">
            <a:avLst/>
          </a:prstGeom>
          <a:noFill/>
          <a:ln/>
        </p:spPr>
        <p:txBody>
          <a:bodyPr wrap="square" lIns="0" tIns="0" rIns="0" bIns="0" rtlCol="0" anchor="t"/>
          <a:lstStyle/>
          <a:p>
            <a:pPr indent="0" marL="0">
              <a:buNone/>
            </a:pPr>
            <a:r>
              <a:rPr lang="en-US" sz="1400" b="1" spc="100" kern="0" dirty="0">
                <a:solidFill>
                  <a:srgbClr val="C9A46A"/>
                </a:solidFill>
                <a:latin typeface="Malgun Gothic" pitchFamily="34" charset="0"/>
                <a:ea typeface="Malgun Gothic" pitchFamily="34" charset="-122"/>
                <a:cs typeface="Malgun Gothic" pitchFamily="34" charset="-120"/>
              </a:rPr>
              <a:t>첫 번째 프로그램</a:t>
            </a:r>
            <a:endParaRPr lang="en-US" sz="1400" dirty="0"/>
          </a:p>
        </p:txBody>
      </p:sp>
      <p:sp>
        <p:nvSpPr>
          <p:cNvPr id="3" name="Text 1"/>
          <p:cNvSpPr txBox="1"/>
          <p:nvPr/>
        </p:nvSpPr>
        <p:spPr>
          <a:xfrm>
            <a:off x="685800" y="1005840"/>
            <a:ext cx="5943600" cy="1600200"/>
          </a:xfrm>
          <a:prstGeom prst="rect">
            <a:avLst/>
          </a:prstGeom>
          <a:noFill/>
          <a:ln/>
        </p:spPr>
        <p:txBody>
          <a:bodyPr wrap="square" lIns="0" tIns="0" rIns="0" bIns="0" rtlCol="0" anchor="t"/>
          <a:lstStyle/>
          <a:p>
            <a:pPr indent="0" marL="0">
              <a:lnSpc>
                <a:spcPct val="100000"/>
              </a:lnSpc>
              <a:buNone/>
            </a:pPr>
            <a:r>
              <a:rPr lang="en-US" sz="4400" b="1" dirty="0">
                <a:solidFill>
                  <a:srgbClr val="17221F"/>
                </a:solidFill>
                <a:latin typeface="Malgun Gothic" pitchFamily="34" charset="0"/>
                <a:ea typeface="Malgun Gothic" pitchFamily="34" charset="-122"/>
                <a:cs typeface="Malgun Gothic" pitchFamily="34" charset="-120"/>
              </a:rPr>
              <a:t>직원교육</a:t>
            </a:r>
            <a:endParaRPr lang="en-US" sz="4400" dirty="0"/>
          </a:p>
          <a:p>
            <a:pPr indent="0" marL="0">
              <a:lnSpc>
                <a:spcPct val="100000"/>
              </a:lnSpc>
              <a:buNone/>
            </a:pPr>
            <a:r>
              <a:rPr lang="en-US" sz="4400" b="1" dirty="0">
                <a:solidFill>
                  <a:srgbClr val="17221F"/>
                </a:solidFill>
                <a:latin typeface="Malgun Gothic" pitchFamily="34" charset="0"/>
                <a:ea typeface="Malgun Gothic" pitchFamily="34" charset="-122"/>
                <a:cs typeface="Malgun Gothic" pitchFamily="34" charset="-120"/>
              </a:rPr>
              <a:t>온라인북</a:t>
            </a:r>
            <a:endParaRPr lang="en-US" sz="4400" dirty="0"/>
          </a:p>
        </p:txBody>
      </p:sp>
      <p:sp>
        <p:nvSpPr>
          <p:cNvPr id="4" name="Text 2"/>
          <p:cNvSpPr txBox="1"/>
          <p:nvPr/>
        </p:nvSpPr>
        <p:spPr>
          <a:xfrm>
            <a:off x="685800" y="2926080"/>
            <a:ext cx="2011680" cy="566928"/>
          </a:xfrm>
          <a:prstGeom prst="rect">
            <a:avLst/>
          </a:prstGeom>
          <a:noFill/>
          <a:ln/>
        </p:spPr>
        <p:txBody>
          <a:bodyPr wrap="square" lIns="0" tIns="0" rIns="0" bIns="0" rtlCol="0" anchor="ctr"/>
          <a:lstStyle/>
          <a:p>
            <a:pPr indent="0" marL="0">
              <a:buNone/>
            </a:pPr>
            <a:r>
              <a:rPr lang="en-US" sz="2200" b="1" dirty="0">
                <a:solidFill>
                  <a:srgbClr val="103D3A"/>
                </a:solidFill>
                <a:latin typeface="Malgun Gothic" pitchFamily="34" charset="0"/>
                <a:ea typeface="Malgun Gothic" pitchFamily="34" charset="-122"/>
                <a:cs typeface="Malgun Gothic" pitchFamily="34" charset="-120"/>
              </a:rPr>
              <a:t>매뉴얼</a:t>
            </a:r>
            <a:endParaRPr lang="en-US" sz="2200" dirty="0"/>
          </a:p>
        </p:txBody>
      </p:sp>
      <p:sp>
        <p:nvSpPr>
          <p:cNvPr id="5" name="Text 3"/>
          <p:cNvSpPr txBox="1"/>
          <p:nvPr/>
        </p:nvSpPr>
        <p:spPr>
          <a:xfrm>
            <a:off x="2743200" y="2926080"/>
            <a:ext cx="3931920" cy="566928"/>
          </a:xfrm>
          <a:prstGeom prst="rect">
            <a:avLst/>
          </a:prstGeom>
          <a:noFill/>
          <a:ln/>
        </p:spPr>
        <p:txBody>
          <a:bodyPr wrap="square" lIns="0" tIns="0" rIns="0" bIns="0" rtlCol="0" anchor="ctr"/>
          <a:lstStyle/>
          <a:p>
            <a:pPr indent="0" marL="0">
              <a:buNone/>
            </a:pPr>
            <a:r>
              <a:rPr lang="en-US" sz="1600" dirty="0">
                <a:solidFill>
                  <a:srgbClr val="17221F"/>
                </a:solidFill>
                <a:latin typeface="Malgun Gothic" pitchFamily="34" charset="0"/>
                <a:ea typeface="Malgun Gothic" pitchFamily="34" charset="-122"/>
                <a:cs typeface="Malgun Gothic" pitchFamily="34" charset="-120"/>
              </a:rPr>
              <a:t>업무 매뉴얼 12장, 휴대폰에서 검색</a:t>
            </a:r>
            <a:endParaRPr lang="en-US" sz="1600" dirty="0"/>
          </a:p>
        </p:txBody>
      </p:sp>
      <p:sp>
        <p:nvSpPr>
          <p:cNvPr id="6" name="Text 4"/>
          <p:cNvSpPr txBox="1"/>
          <p:nvPr/>
        </p:nvSpPr>
        <p:spPr>
          <a:xfrm>
            <a:off x="685800" y="3611880"/>
            <a:ext cx="2011680" cy="566928"/>
          </a:xfrm>
          <a:prstGeom prst="rect">
            <a:avLst/>
          </a:prstGeom>
          <a:noFill/>
          <a:ln/>
        </p:spPr>
        <p:txBody>
          <a:bodyPr wrap="square" lIns="0" tIns="0" rIns="0" bIns="0" rtlCol="0" anchor="ctr"/>
          <a:lstStyle/>
          <a:p>
            <a:pPr indent="0" marL="0">
              <a:buNone/>
            </a:pPr>
            <a:r>
              <a:rPr lang="en-US" sz="2200" b="1" dirty="0">
                <a:solidFill>
                  <a:srgbClr val="103D3A"/>
                </a:solidFill>
                <a:latin typeface="Malgun Gothic" pitchFamily="34" charset="0"/>
                <a:ea typeface="Malgun Gothic" pitchFamily="34" charset="-122"/>
                <a:cs typeface="Malgun Gothic" pitchFamily="34" charset="-120"/>
              </a:rPr>
              <a:t>신입 교육</a:t>
            </a:r>
            <a:endParaRPr lang="en-US" sz="2200" dirty="0"/>
          </a:p>
        </p:txBody>
      </p:sp>
      <p:sp>
        <p:nvSpPr>
          <p:cNvPr id="7" name="Text 5"/>
          <p:cNvSpPr txBox="1"/>
          <p:nvPr/>
        </p:nvSpPr>
        <p:spPr>
          <a:xfrm>
            <a:off x="2743200" y="3611880"/>
            <a:ext cx="3931920" cy="566928"/>
          </a:xfrm>
          <a:prstGeom prst="rect">
            <a:avLst/>
          </a:prstGeom>
          <a:noFill/>
          <a:ln/>
        </p:spPr>
        <p:txBody>
          <a:bodyPr wrap="square" lIns="0" tIns="0" rIns="0" bIns="0" rtlCol="0" anchor="ctr"/>
          <a:lstStyle/>
          <a:p>
            <a:pPr indent="0" marL="0">
              <a:buNone/>
            </a:pPr>
            <a:r>
              <a:rPr lang="en-US" sz="1600" dirty="0">
                <a:solidFill>
                  <a:srgbClr val="17221F"/>
                </a:solidFill>
                <a:latin typeface="Malgun Gothic" pitchFamily="34" charset="0"/>
                <a:ea typeface="Malgun Gothic" pitchFamily="34" charset="-122"/>
                <a:cs typeface="Malgun Gothic" pitchFamily="34" charset="-120"/>
              </a:rPr>
              <a:t>1·3·7일차로 나눠서</a:t>
            </a:r>
            <a:endParaRPr lang="en-US" sz="1600" dirty="0"/>
          </a:p>
        </p:txBody>
      </p:sp>
      <p:sp>
        <p:nvSpPr>
          <p:cNvPr id="8" name="Text 6"/>
          <p:cNvSpPr txBox="1"/>
          <p:nvPr/>
        </p:nvSpPr>
        <p:spPr>
          <a:xfrm>
            <a:off x="685800" y="4297680"/>
            <a:ext cx="2011680" cy="566928"/>
          </a:xfrm>
          <a:prstGeom prst="rect">
            <a:avLst/>
          </a:prstGeom>
          <a:noFill/>
          <a:ln/>
        </p:spPr>
        <p:txBody>
          <a:bodyPr wrap="square" lIns="0" tIns="0" rIns="0" bIns="0" rtlCol="0" anchor="ctr"/>
          <a:lstStyle/>
          <a:p>
            <a:pPr indent="0" marL="0">
              <a:buNone/>
            </a:pPr>
            <a:r>
              <a:rPr lang="en-US" sz="2200" b="1" dirty="0">
                <a:solidFill>
                  <a:srgbClr val="103D3A"/>
                </a:solidFill>
                <a:latin typeface="Malgun Gothic" pitchFamily="34" charset="0"/>
                <a:ea typeface="Malgun Gothic" pitchFamily="34" charset="-122"/>
                <a:cs typeface="Malgun Gothic" pitchFamily="34" charset="-120"/>
              </a:rPr>
              <a:t>체크리스트</a:t>
            </a:r>
            <a:endParaRPr lang="en-US" sz="2200" dirty="0"/>
          </a:p>
        </p:txBody>
      </p:sp>
      <p:sp>
        <p:nvSpPr>
          <p:cNvPr id="9" name="Text 7"/>
          <p:cNvSpPr txBox="1"/>
          <p:nvPr/>
        </p:nvSpPr>
        <p:spPr>
          <a:xfrm>
            <a:off x="2743200" y="4297680"/>
            <a:ext cx="3931920" cy="566928"/>
          </a:xfrm>
          <a:prstGeom prst="rect">
            <a:avLst/>
          </a:prstGeom>
          <a:noFill/>
          <a:ln/>
        </p:spPr>
        <p:txBody>
          <a:bodyPr wrap="square" lIns="0" tIns="0" rIns="0" bIns="0" rtlCol="0" anchor="ctr"/>
          <a:lstStyle/>
          <a:p>
            <a:pPr indent="0" marL="0">
              <a:buNone/>
            </a:pPr>
            <a:r>
              <a:rPr lang="en-US" sz="1600" dirty="0">
                <a:solidFill>
                  <a:srgbClr val="17221F"/>
                </a:solidFill>
                <a:latin typeface="Malgun Gothic" pitchFamily="34" charset="0"/>
                <a:ea typeface="Malgun Gothic" pitchFamily="34" charset="-122"/>
                <a:cs typeface="Malgun Gothic" pitchFamily="34" charset="-120"/>
              </a:rPr>
              <a:t>오픈·마감 체크</a:t>
            </a:r>
            <a:endParaRPr lang="en-US" sz="1600" dirty="0"/>
          </a:p>
        </p:txBody>
      </p:sp>
      <p:sp>
        <p:nvSpPr>
          <p:cNvPr id="10" name="Text 8"/>
          <p:cNvSpPr txBox="1"/>
          <p:nvPr/>
        </p:nvSpPr>
        <p:spPr>
          <a:xfrm>
            <a:off x="685800" y="4983480"/>
            <a:ext cx="2011680" cy="566928"/>
          </a:xfrm>
          <a:prstGeom prst="rect">
            <a:avLst/>
          </a:prstGeom>
          <a:noFill/>
          <a:ln/>
        </p:spPr>
        <p:txBody>
          <a:bodyPr wrap="square" lIns="0" tIns="0" rIns="0" bIns="0" rtlCol="0" anchor="ctr"/>
          <a:lstStyle/>
          <a:p>
            <a:pPr indent="0" marL="0">
              <a:buNone/>
            </a:pPr>
            <a:r>
              <a:rPr lang="en-US" sz="2200" b="1" dirty="0">
                <a:solidFill>
                  <a:srgbClr val="103D3A"/>
                </a:solidFill>
                <a:latin typeface="Malgun Gothic" pitchFamily="34" charset="0"/>
                <a:ea typeface="Malgun Gothic" pitchFamily="34" charset="-122"/>
                <a:cs typeface="Malgun Gothic" pitchFamily="34" charset="-120"/>
              </a:rPr>
              <a:t>서버 기록</a:t>
            </a:r>
            <a:endParaRPr lang="en-US" sz="2200" dirty="0"/>
          </a:p>
        </p:txBody>
      </p:sp>
      <p:sp>
        <p:nvSpPr>
          <p:cNvPr id="11" name="Text 9"/>
          <p:cNvSpPr txBox="1"/>
          <p:nvPr/>
        </p:nvSpPr>
        <p:spPr>
          <a:xfrm>
            <a:off x="2743200" y="4983480"/>
            <a:ext cx="3931920" cy="566928"/>
          </a:xfrm>
          <a:prstGeom prst="rect">
            <a:avLst/>
          </a:prstGeom>
          <a:noFill/>
          <a:ln/>
        </p:spPr>
        <p:txBody>
          <a:bodyPr wrap="square" lIns="0" tIns="0" rIns="0" bIns="0" rtlCol="0" anchor="ctr"/>
          <a:lstStyle/>
          <a:p>
            <a:pPr indent="0" marL="0">
              <a:buNone/>
            </a:pPr>
            <a:r>
              <a:rPr lang="en-US" sz="1600" dirty="0">
                <a:solidFill>
                  <a:srgbClr val="17221F"/>
                </a:solidFill>
                <a:latin typeface="Malgun Gothic" pitchFamily="34" charset="0"/>
                <a:ea typeface="Malgun Gothic" pitchFamily="34" charset="-122"/>
                <a:cs typeface="Malgun Gothic" pitchFamily="34" charset="-120"/>
              </a:rPr>
              <a:t>매장·이름·시간 저장</a:t>
            </a:r>
            <a:endParaRPr lang="en-US" sz="1600" dirty="0"/>
          </a:p>
        </p:txBody>
      </p:sp>
      <p:sp>
        <p:nvSpPr>
          <p:cNvPr id="12" name="Shape 10"/>
          <p:cNvSpPr/>
          <p:nvPr/>
        </p:nvSpPr>
        <p:spPr>
          <a:xfrm>
            <a:off x="6858000" y="502920"/>
            <a:ext cx="4708679" cy="5440680"/>
          </a:xfrm>
          <a:prstGeom prst="rect">
            <a:avLst/>
          </a:prstGeom>
          <a:solidFill>
            <a:srgbClr val="FFFFFF"/>
          </a:solidFill>
          <a:ln w="9525">
            <a:solidFill>
              <a:srgbClr val="D9D3C5"/>
            </a:solidFill>
            <a:prstDash val="solid"/>
          </a:ln>
          <a:effectLst>
            <a:outerShdw sx="100000" sy="100000" kx="0" ky="0" algn="bl" rotWithShape="0" blurRad="127000" dist="50800" dir="5400000">
              <a:srgbClr val="000000">
                <a:alpha val="12000"/>
              </a:srgbClr>
            </a:outerShdw>
          </a:effectLst>
        </p:spPr>
      </p:sp>
      <p:pic>
        <p:nvPicPr>
          <p:cNvPr id="13" name="Image 0" descr="떡기리 프로그램 화면">    </p:cNvPr>
          <p:cNvPicPr>
            <a:picLocks noChangeAspect="1"/>
          </p:cNvPicPr>
          <p:nvPr/>
        </p:nvPicPr>
        <p:blipFill>
          <a:blip r:embed="rId1"/>
          <a:stretch>
            <a:fillRect/>
          </a:stretch>
        </p:blipFill>
        <p:spPr>
          <a:xfrm>
            <a:off x="6903720" y="548640"/>
            <a:ext cx="4617239" cy="5349240"/>
          </a:xfrm>
          <a:prstGeom prst="rect">
            <a:avLst/>
          </a:prstGeom>
        </p:spPr>
      </p:pic>
      <p:sp>
        <p:nvSpPr>
          <p:cNvPr id="14" name="Text 11"/>
          <p:cNvSpPr txBox="1"/>
          <p:nvPr/>
        </p:nvSpPr>
        <p:spPr>
          <a:xfrm>
            <a:off x="7977899" y="6108192"/>
            <a:ext cx="2468880" cy="274320"/>
          </a:xfrm>
          <a:prstGeom prst="roundRect">
            <a:avLst>
              <a:gd name="adj" fmla="val 50000"/>
            </a:avLst>
          </a:prstGeom>
          <a:solidFill>
            <a:srgbClr val="EFE2C8"/>
          </a:solidFill>
          <a:ln/>
        </p:spPr>
        <p:txBody>
          <a:bodyPr wrap="square" lIns="0" tIns="0" rIns="0" bIns="0" rtlCol="0" anchor="ctr"/>
          <a:lstStyle/>
          <a:p>
            <a:pPr algn="ctr" indent="0" marL="0">
              <a:buNone/>
            </a:pPr>
            <a:r>
              <a:rPr lang="en-US" sz="1050" b="1" dirty="0">
                <a:solidFill>
                  <a:srgbClr val="17221F"/>
                </a:solidFill>
                <a:latin typeface="Malgun Gothic" pitchFamily="34" charset="0"/>
                <a:ea typeface="Malgun Gothic" pitchFamily="34" charset="-122"/>
                <a:cs typeface="Malgun Gothic" pitchFamily="34" charset="-120"/>
              </a:rPr>
              <a:t>온라인북 데모 화면 · 가상 데이터</a:t>
            </a:r>
            <a:endParaRPr lang="en-US" sz="1050" dirty="0"/>
          </a:p>
        </p:txBody>
      </p:sp>
      <p:sp>
        <p:nvSpPr>
          <p:cNvPr id="15" name="Shape 12"/>
          <p:cNvSpPr/>
          <p:nvPr/>
        </p:nvSpPr>
        <p:spPr>
          <a:xfrm>
            <a:off x="685800" y="6400800"/>
            <a:ext cx="1188720" cy="41148"/>
          </a:xfrm>
          <a:prstGeom prst="rect">
            <a:avLst/>
          </a:prstGeom>
          <a:solidFill>
            <a:srgbClr val="103D3A"/>
          </a:solidFill>
          <a:ln/>
        </p:spPr>
      </p:sp>
      <p:sp>
        <p:nvSpPr>
          <p:cNvPr id="16" name="Shape 13"/>
          <p:cNvSpPr/>
          <p:nvPr/>
        </p:nvSpPr>
        <p:spPr>
          <a:xfrm>
            <a:off x="1874520" y="6420917"/>
            <a:ext cx="4754880" cy="0"/>
          </a:xfrm>
          <a:prstGeom prst="line">
            <a:avLst/>
          </a:prstGeom>
          <a:noFill/>
          <a:ln w="9525">
            <a:solidFill>
              <a:srgbClr val="D9D3C5"/>
            </a:solidFill>
            <a:prstDash val="solid"/>
          </a:ln>
        </p:spPr>
      </p:sp>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40080" y="457200"/>
            <a:ext cx="4447467" cy="5669280"/>
          </a:xfrm>
          <a:prstGeom prst="rect">
            <a:avLst/>
          </a:prstGeom>
          <a:solidFill>
            <a:srgbClr val="FFFFFF"/>
          </a:solidFill>
          <a:ln w="9525">
            <a:solidFill>
              <a:srgbClr val="D9D3C5"/>
            </a:solidFill>
            <a:prstDash val="solid"/>
          </a:ln>
          <a:effectLst>
            <a:outerShdw sx="100000" sy="100000" kx="0" ky="0" algn="bl" rotWithShape="0" blurRad="127000" dist="50800" dir="5400000">
              <a:srgbClr val="000000">
                <a:alpha val="12000"/>
              </a:srgbClr>
            </a:outerShdw>
          </a:effectLst>
        </p:spPr>
      </p:sp>
      <p:pic>
        <p:nvPicPr>
          <p:cNvPr id="3" name="Image 0" descr="떡기리 프로그램 화면">    </p:cNvPr>
          <p:cNvPicPr>
            <a:picLocks noChangeAspect="1"/>
          </p:cNvPicPr>
          <p:nvPr/>
        </p:nvPicPr>
        <p:blipFill>
          <a:blip r:embed="rId1"/>
          <a:stretch>
            <a:fillRect/>
          </a:stretch>
        </p:blipFill>
        <p:spPr>
          <a:xfrm>
            <a:off x="685800" y="502920"/>
            <a:ext cx="4356027" cy="5577840"/>
          </a:xfrm>
          <a:prstGeom prst="rect">
            <a:avLst/>
          </a:prstGeom>
        </p:spPr>
      </p:pic>
      <p:sp>
        <p:nvSpPr>
          <p:cNvPr id="4" name="Text 1"/>
          <p:cNvSpPr txBox="1"/>
          <p:nvPr/>
        </p:nvSpPr>
        <p:spPr>
          <a:xfrm>
            <a:off x="1857974" y="6217920"/>
            <a:ext cx="2011680" cy="274320"/>
          </a:xfrm>
          <a:prstGeom prst="roundRect">
            <a:avLst>
              <a:gd name="adj" fmla="val 50000"/>
            </a:avLst>
          </a:prstGeom>
          <a:solidFill>
            <a:srgbClr val="EFE2C8"/>
          </a:solidFill>
          <a:ln/>
        </p:spPr>
        <p:txBody>
          <a:bodyPr wrap="square" lIns="0" tIns="0" rIns="0" bIns="0" rtlCol="0" anchor="ctr"/>
          <a:lstStyle/>
          <a:p>
            <a:pPr algn="ctr" indent="0" marL="0">
              <a:buNone/>
            </a:pPr>
            <a:r>
              <a:rPr lang="en-US" sz="1050" b="1" dirty="0">
                <a:solidFill>
                  <a:srgbClr val="17221F"/>
                </a:solidFill>
                <a:latin typeface="Malgun Gothic" pitchFamily="34" charset="0"/>
                <a:ea typeface="Malgun Gothic" pitchFamily="34" charset="-122"/>
                <a:cs typeface="Malgun Gothic" pitchFamily="34" charset="-120"/>
              </a:rPr>
              <a:t>데모 · 가상 매장·직원</a:t>
            </a:r>
            <a:endParaRPr lang="en-US" sz="1050" dirty="0"/>
          </a:p>
        </p:txBody>
      </p:sp>
      <p:sp>
        <p:nvSpPr>
          <p:cNvPr id="5" name="Text 2"/>
          <p:cNvSpPr txBox="1"/>
          <p:nvPr/>
        </p:nvSpPr>
        <p:spPr>
          <a:xfrm>
            <a:off x="5486400" y="640080"/>
            <a:ext cx="5486400" cy="320040"/>
          </a:xfrm>
          <a:prstGeom prst="rect">
            <a:avLst/>
          </a:prstGeom>
          <a:noFill/>
          <a:ln/>
        </p:spPr>
        <p:txBody>
          <a:bodyPr wrap="square" lIns="0" tIns="0" rIns="0" bIns="0" rtlCol="0" anchor="t"/>
          <a:lstStyle/>
          <a:p>
            <a:pPr indent="0" marL="0">
              <a:buNone/>
            </a:pPr>
            <a:r>
              <a:rPr lang="en-US" sz="1400" b="1" spc="100" kern="0" dirty="0">
                <a:solidFill>
                  <a:srgbClr val="C9A46A"/>
                </a:solidFill>
                <a:latin typeface="Malgun Gothic" pitchFamily="34" charset="0"/>
                <a:ea typeface="Malgun Gothic" pitchFamily="34" charset="-122"/>
                <a:cs typeface="Malgun Gothic" pitchFamily="34" charset="-120"/>
              </a:rPr>
              <a:t>시연 ①</a:t>
            </a:r>
            <a:endParaRPr lang="en-US" sz="1400" dirty="0"/>
          </a:p>
        </p:txBody>
      </p:sp>
      <p:sp>
        <p:nvSpPr>
          <p:cNvPr id="6" name="Text 3"/>
          <p:cNvSpPr txBox="1"/>
          <p:nvPr/>
        </p:nvSpPr>
        <p:spPr>
          <a:xfrm>
            <a:off x="5486400" y="1005840"/>
            <a:ext cx="6172200" cy="1417320"/>
          </a:xfrm>
          <a:prstGeom prst="rect">
            <a:avLst/>
          </a:prstGeom>
          <a:noFill/>
          <a:ln/>
        </p:spPr>
        <p:txBody>
          <a:bodyPr wrap="square" lIns="0" tIns="0" rIns="0" bIns="0" rtlCol="0" anchor="t"/>
          <a:lstStyle/>
          <a:p>
            <a:pPr indent="0" marL="0">
              <a:lnSpc>
                <a:spcPct val="105000"/>
              </a:lnSpc>
              <a:buNone/>
            </a:pPr>
            <a:r>
              <a:rPr lang="en-US" sz="3200" b="1" dirty="0">
                <a:solidFill>
                  <a:srgbClr val="17221F"/>
                </a:solidFill>
                <a:latin typeface="Malgun Gothic" pitchFamily="34" charset="0"/>
                <a:ea typeface="Malgun Gothic" pitchFamily="34" charset="-122"/>
                <a:cs typeface="Malgun Gothic" pitchFamily="34" charset="-120"/>
              </a:rPr>
              <a:t>직원이 체크하면</a:t>
            </a:r>
            <a:endParaRPr lang="en-US" sz="3200" dirty="0"/>
          </a:p>
          <a:p>
            <a:pPr indent="0" marL="0">
              <a:lnSpc>
                <a:spcPct val="105000"/>
              </a:lnSpc>
              <a:buNone/>
            </a:pPr>
            <a:r>
              <a:rPr lang="en-US" sz="3200" b="1" dirty="0">
                <a:solidFill>
                  <a:srgbClr val="17221F"/>
                </a:solidFill>
                <a:latin typeface="Malgun Gothic" pitchFamily="34" charset="0"/>
                <a:ea typeface="Malgun Gothic" pitchFamily="34" charset="-122"/>
                <a:cs typeface="Malgun Gothic" pitchFamily="34" charset="-120"/>
              </a:rPr>
              <a:t>이름과 시간이 남습니다</a:t>
            </a:r>
            <a:endParaRPr lang="en-US" sz="3200" dirty="0"/>
          </a:p>
        </p:txBody>
      </p:sp>
      <p:sp>
        <p:nvSpPr>
          <p:cNvPr id="7" name="Text 4"/>
          <p:cNvSpPr txBox="1"/>
          <p:nvPr/>
        </p:nvSpPr>
        <p:spPr>
          <a:xfrm>
            <a:off x="5486400" y="2871216"/>
            <a:ext cx="438912" cy="438912"/>
          </a:xfrm>
          <a:prstGeom prst="ellipse">
            <a:avLst/>
          </a:prstGeom>
          <a:solidFill>
            <a:srgbClr val="103D3A"/>
          </a:solid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a:t>
            </a:r>
            <a:endParaRPr lang="en-US" sz="1500" dirty="0"/>
          </a:p>
        </p:txBody>
      </p:sp>
      <p:sp>
        <p:nvSpPr>
          <p:cNvPr id="8" name="Text 5"/>
          <p:cNvSpPr txBox="1"/>
          <p:nvPr/>
        </p:nvSpPr>
        <p:spPr>
          <a:xfrm>
            <a:off x="6126480" y="2834640"/>
            <a:ext cx="5486400" cy="512064"/>
          </a:xfrm>
          <a:prstGeom prst="rect">
            <a:avLst/>
          </a:prstGeom>
          <a:noFill/>
          <a:ln/>
        </p:spPr>
        <p:txBody>
          <a:bodyPr wrap="square" lIns="0" tIns="0" rIns="0" bIns="0" rtlCol="0" anchor="ctr"/>
          <a:lstStyle/>
          <a:p>
            <a:pPr indent="0" marL="0">
              <a:buNone/>
            </a:pPr>
            <a:r>
              <a:rPr lang="en-US" sz="2100" dirty="0">
                <a:solidFill>
                  <a:srgbClr val="17221F"/>
                </a:solidFill>
                <a:latin typeface="Malgun Gothic" pitchFamily="34" charset="0"/>
                <a:ea typeface="Malgun Gothic" pitchFamily="34" charset="-122"/>
                <a:cs typeface="Malgun Gothic" pitchFamily="34" charset="-120"/>
              </a:rPr>
              <a:t>매장·이름 고르기</a:t>
            </a:r>
            <a:endParaRPr lang="en-US" sz="2100" dirty="0"/>
          </a:p>
        </p:txBody>
      </p:sp>
      <p:sp>
        <p:nvSpPr>
          <p:cNvPr id="9" name="Text 6"/>
          <p:cNvSpPr txBox="1"/>
          <p:nvPr/>
        </p:nvSpPr>
        <p:spPr>
          <a:xfrm>
            <a:off x="5486400" y="3557016"/>
            <a:ext cx="438912" cy="438912"/>
          </a:xfrm>
          <a:prstGeom prst="ellipse">
            <a:avLst/>
          </a:prstGeom>
          <a:solidFill>
            <a:srgbClr val="103D3A"/>
          </a:solid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2</a:t>
            </a:r>
            <a:endParaRPr lang="en-US" sz="1500" dirty="0"/>
          </a:p>
        </p:txBody>
      </p:sp>
      <p:sp>
        <p:nvSpPr>
          <p:cNvPr id="10" name="Text 7"/>
          <p:cNvSpPr txBox="1"/>
          <p:nvPr/>
        </p:nvSpPr>
        <p:spPr>
          <a:xfrm>
            <a:off x="6126480" y="3520440"/>
            <a:ext cx="5486400" cy="512064"/>
          </a:xfrm>
          <a:prstGeom prst="rect">
            <a:avLst/>
          </a:prstGeom>
          <a:noFill/>
          <a:ln/>
        </p:spPr>
        <p:txBody>
          <a:bodyPr wrap="square" lIns="0" tIns="0" rIns="0" bIns="0" rtlCol="0" anchor="ctr"/>
          <a:lstStyle/>
          <a:p>
            <a:pPr indent="0" marL="0">
              <a:buNone/>
            </a:pPr>
            <a:r>
              <a:rPr lang="en-US" sz="2100" dirty="0">
                <a:solidFill>
                  <a:srgbClr val="17221F"/>
                </a:solidFill>
                <a:latin typeface="Malgun Gothic" pitchFamily="34" charset="0"/>
                <a:ea typeface="Malgun Gothic" pitchFamily="34" charset="-122"/>
                <a:cs typeface="Malgun Gothic" pitchFamily="34" charset="-120"/>
              </a:rPr>
              <a:t>마감 체크리스트 체크</a:t>
            </a:r>
            <a:endParaRPr lang="en-US" sz="2100" dirty="0"/>
          </a:p>
        </p:txBody>
      </p:sp>
      <p:sp>
        <p:nvSpPr>
          <p:cNvPr id="11" name="Text 8"/>
          <p:cNvSpPr txBox="1"/>
          <p:nvPr/>
        </p:nvSpPr>
        <p:spPr>
          <a:xfrm>
            <a:off x="5486400" y="4242816"/>
            <a:ext cx="438912" cy="438912"/>
          </a:xfrm>
          <a:prstGeom prst="ellipse">
            <a:avLst/>
          </a:prstGeom>
          <a:solidFill>
            <a:srgbClr val="103D3A"/>
          </a:solid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3</a:t>
            </a:r>
            <a:endParaRPr lang="en-US" sz="1500" dirty="0"/>
          </a:p>
        </p:txBody>
      </p:sp>
      <p:sp>
        <p:nvSpPr>
          <p:cNvPr id="12" name="Text 9"/>
          <p:cNvSpPr txBox="1"/>
          <p:nvPr/>
        </p:nvSpPr>
        <p:spPr>
          <a:xfrm>
            <a:off x="6126480" y="4206240"/>
            <a:ext cx="5486400" cy="512064"/>
          </a:xfrm>
          <a:prstGeom prst="rect">
            <a:avLst/>
          </a:prstGeom>
          <a:noFill/>
          <a:ln/>
        </p:spPr>
        <p:txBody>
          <a:bodyPr wrap="square" lIns="0" tIns="0" rIns="0" bIns="0" rtlCol="0" anchor="ctr"/>
          <a:lstStyle/>
          <a:p>
            <a:pPr indent="0" marL="0">
              <a:buNone/>
            </a:pPr>
            <a:r>
              <a:rPr lang="en-US" sz="2100" b="1" dirty="0">
                <a:solidFill>
                  <a:srgbClr val="17221F"/>
                </a:solidFill>
                <a:latin typeface="Malgun Gothic" pitchFamily="34" charset="0"/>
                <a:ea typeface="Malgun Gothic" pitchFamily="34" charset="-122"/>
                <a:cs typeface="Malgun Gothic" pitchFamily="34" charset="-120"/>
              </a:rPr>
              <a:t>완료 제출 → 기록 저장</a:t>
            </a:r>
            <a:endParaRPr lang="en-US" sz="2100" dirty="0"/>
          </a:p>
        </p:txBody>
      </p:sp>
      <p:sp>
        <p:nvSpPr>
          <p:cNvPr id="13" name="Text 10">
            <a:hlinkClick r:id="rId2" tooltip="https://tteokgiri-onlinebook-demo.vercel.app"/>
          </p:cNvPr>
          <p:cNvSpPr txBox="1"/>
          <p:nvPr/>
        </p:nvSpPr>
        <p:spPr>
          <a:xfrm>
            <a:off x="5486400" y="5120640"/>
            <a:ext cx="2377440" cy="402336"/>
          </a:xfrm>
          <a:prstGeom prst="roundRect">
            <a:avLst>
              <a:gd name="adj" fmla="val 50000"/>
            </a:avLst>
          </a:prstGeom>
          <a:solidFill>
            <a:srgbClr val="103D3A"/>
          </a:solidFill>
          <a:ln/>
        </p:spPr>
        <p:txBody>
          <a:bodyPr wrap="square" lIns="0" tIns="0" rIns="0" bIns="0" rtlCol="0" anchor="ctr"/>
          <a:lstStyle/>
          <a:p>
            <a:pPr algn="ctr" indent="0" marL="0">
              <a:buNone/>
            </a:pPr>
            <a:r>
              <a:rPr lang="en-US" sz="1300" b="1" u="sng" dirty="0">
                <a:solidFill>
                  <a:srgbClr val="FFFFFF"/>
                </a:solidFill>
                <a:latin typeface="Malgun Gothic" pitchFamily="34" charset="0"/>
                <a:ea typeface="Malgun Gothic" pitchFamily="34" charset="-122"/>
                <a:cs typeface="Malgun Gothic" pitchFamily="34" charset="-120"/>
                <a:hlinkClick r:id="rId2" invalidUrl="" action="" tgtFrame="" tooltip="https://tteokgiri-onlinebook-demo.vercel.app" history="1" highlightClick="0" endSnd="0">
                  <a:extLst>
                    <a:ext uri="{A12FA001-AC4F-418D-AE19-62706E023703}">
                      <ahyp:hlinkClr xmlns:ahyp="http://schemas.microsoft.com/office/drawing/2018/hyperlinkcolor" val="tx"/>
                    </a:ext>
                  </a:extLst>
                </a:hlinkClick>
              </a:rPr>
              <a:t>온라인북 데모 열기</a:t>
            </a:r>
            <a:endParaRPr lang="en-US" sz="1300" dirty="0"/>
          </a:p>
        </p:txBody>
      </p:sp>
      <p:sp>
        <p:nvSpPr>
          <p:cNvPr id="14" name="Text 11">
            <a:hlinkClick r:id="rId3" tooltip="https://tteokgiri-onlinebook-demo.vercel.app"/>
          </p:cNvPr>
          <p:cNvSpPr txBox="1"/>
          <p:nvPr/>
        </p:nvSpPr>
        <p:spPr>
          <a:xfrm>
            <a:off x="7936992" y="5120640"/>
            <a:ext cx="566928" cy="402336"/>
          </a:xfrm>
          <a:prstGeom prst="roundRect">
            <a:avLst>
              <a:gd name="adj" fmla="val 50000"/>
            </a:avLst>
          </a:prstGeom>
          <a:solidFill>
            <a:srgbClr val="0B2C29"/>
          </a:solidFill>
          <a:ln/>
        </p:spPr>
        <p:txBody>
          <a:bodyPr wrap="square" lIns="0" tIns="0" rIns="0" bIns="0" rtlCol="0" anchor="ctr"/>
          <a:lstStyle/>
          <a:p>
            <a:pPr algn="ctr" indent="0" marL="0">
              <a:buNone/>
            </a:pPr>
            <a:r>
              <a:rPr lang="en-US" sz="1500" b="1" u="sng" dirty="0">
                <a:solidFill>
                  <a:srgbClr val="FFFFFF"/>
                </a:solidFill>
                <a:latin typeface="Malgun Gothic" pitchFamily="34" charset="0"/>
                <a:ea typeface="Malgun Gothic" pitchFamily="34" charset="-122"/>
                <a:cs typeface="Malgun Gothic" pitchFamily="34" charset="-120"/>
                <a:hlinkClick r:id="rId3" invalidUrl="" action="" tgtFrame="" tooltip="https://tteokgiri-onlinebook-demo.vercel.app" history="1" highlightClick="0" endSnd="0">
                  <a:extLst>
                    <a:ext uri="{A12FA001-AC4F-418D-AE19-62706E023703}">
                      <ahyp:hlinkClr xmlns:ahyp="http://schemas.microsoft.com/office/drawing/2018/hyperlinkcolor" val="tx"/>
                    </a:ext>
                  </a:extLst>
                </a:hlinkClick>
              </a:rPr>
              <a:t>→</a:t>
            </a:r>
            <a:endParaRPr lang="en-US" sz="1500" dirty="0"/>
          </a:p>
        </p:txBody>
      </p:sp>
      <p:sp>
        <p:nvSpPr>
          <p:cNvPr id="15" name="Text 12"/>
          <p:cNvSpPr txBox="1"/>
          <p:nvPr/>
        </p:nvSpPr>
        <p:spPr>
          <a:xfrm>
            <a:off x="5486400" y="5623560"/>
            <a:ext cx="5486400" cy="274320"/>
          </a:xfrm>
          <a:prstGeom prst="rect">
            <a:avLst/>
          </a:prstGeom>
          <a:noFill/>
          <a:ln/>
        </p:spPr>
        <p:txBody>
          <a:bodyPr wrap="square" lIns="0" tIns="0" rIns="0" bIns="0" rtlCol="0" anchor="t"/>
          <a:lstStyle/>
          <a:p>
            <a:pPr indent="0" marL="0">
              <a:buNone/>
            </a:pPr>
            <a:r>
              <a:rPr lang="en-US" sz="1200" dirty="0">
                <a:solidFill>
                  <a:srgbClr val="77746B"/>
                </a:solidFill>
                <a:latin typeface="Malgun Gothic" pitchFamily="34" charset="0"/>
                <a:ea typeface="Malgun Gothic" pitchFamily="34" charset="-122"/>
                <a:cs typeface="Malgun Gothic" pitchFamily="34" charset="-120"/>
              </a:rPr>
              <a:t>tteokgiri-onlinebook-demo.vercel.app</a:t>
            </a:r>
            <a:endParaRPr lang="en-US" sz="1200" dirty="0"/>
          </a:p>
        </p:txBody>
      </p:sp>
      <p:sp>
        <p:nvSpPr>
          <p:cNvPr id="16" name="Shape 13"/>
          <p:cNvSpPr/>
          <p:nvPr/>
        </p:nvSpPr>
        <p:spPr>
          <a:xfrm>
            <a:off x="5486400" y="6400800"/>
            <a:ext cx="1188720" cy="41148"/>
          </a:xfrm>
          <a:prstGeom prst="rect">
            <a:avLst/>
          </a:prstGeom>
          <a:solidFill>
            <a:srgbClr val="103D3A"/>
          </a:solidFill>
          <a:ln/>
        </p:spPr>
      </p:sp>
      <p:sp>
        <p:nvSpPr>
          <p:cNvPr id="17" name="Shape 14"/>
          <p:cNvSpPr/>
          <p:nvPr/>
        </p:nvSpPr>
        <p:spPr>
          <a:xfrm>
            <a:off x="6675120" y="6420917"/>
            <a:ext cx="4983480" cy="0"/>
          </a:xfrm>
          <a:prstGeom prst="line">
            <a:avLst/>
          </a:prstGeom>
          <a:noFill/>
          <a:ln w="9525">
            <a:solidFill>
              <a:srgbClr val="D9D3C5"/>
            </a:solidFill>
            <a:prstDash val="solid"/>
          </a:ln>
        </p:spPr>
      </p:sp>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640080"/>
            <a:ext cx="5486400" cy="320040"/>
          </a:xfrm>
          <a:prstGeom prst="rect">
            <a:avLst/>
          </a:prstGeom>
          <a:noFill/>
          <a:ln/>
        </p:spPr>
        <p:txBody>
          <a:bodyPr wrap="square" lIns="0" tIns="0" rIns="0" bIns="0" rtlCol="0" anchor="t"/>
          <a:lstStyle/>
          <a:p>
            <a:pPr indent="0" marL="0">
              <a:buNone/>
            </a:pPr>
            <a:r>
              <a:rPr lang="en-US" sz="1400" b="1" spc="100" kern="0" dirty="0">
                <a:solidFill>
                  <a:srgbClr val="C9A46A"/>
                </a:solidFill>
                <a:latin typeface="Malgun Gothic" pitchFamily="34" charset="0"/>
                <a:ea typeface="Malgun Gothic" pitchFamily="34" charset="-122"/>
                <a:cs typeface="Malgun Gothic" pitchFamily="34" charset="-120"/>
              </a:rPr>
              <a:t>시연 ① 이어서</a:t>
            </a:r>
            <a:endParaRPr lang="en-US" sz="1400" dirty="0"/>
          </a:p>
        </p:txBody>
      </p:sp>
      <p:sp>
        <p:nvSpPr>
          <p:cNvPr id="3" name="Text 1"/>
          <p:cNvSpPr txBox="1"/>
          <p:nvPr/>
        </p:nvSpPr>
        <p:spPr>
          <a:xfrm>
            <a:off x="685800" y="1005840"/>
            <a:ext cx="6035040" cy="822960"/>
          </a:xfrm>
          <a:prstGeom prst="rect">
            <a:avLst/>
          </a:prstGeom>
          <a:noFill/>
          <a:ln/>
        </p:spPr>
        <p:txBody>
          <a:bodyPr wrap="square" lIns="0" tIns="0" rIns="0" bIns="0" rtlCol="0" anchor="t"/>
          <a:lstStyle/>
          <a:p>
            <a:pPr indent="0" marL="0">
              <a:buNone/>
            </a:pPr>
            <a:r>
              <a:rPr lang="en-US" sz="4000" b="1" dirty="0">
                <a:solidFill>
                  <a:srgbClr val="17221F"/>
                </a:solidFill>
                <a:latin typeface="Malgun Gothic" pitchFamily="34" charset="0"/>
                <a:ea typeface="Malgun Gothic" pitchFamily="34" charset="-122"/>
                <a:cs typeface="Malgun Gothic" pitchFamily="34" charset="-120"/>
              </a:rPr>
              <a:t>사장 점검표</a:t>
            </a:r>
            <a:endParaRPr lang="en-US" sz="4000" dirty="0"/>
          </a:p>
        </p:txBody>
      </p:sp>
      <p:sp>
        <p:nvSpPr>
          <p:cNvPr id="4" name="Text 2"/>
          <p:cNvSpPr txBox="1"/>
          <p:nvPr/>
        </p:nvSpPr>
        <p:spPr>
          <a:xfrm>
            <a:off x="685800" y="1874520"/>
            <a:ext cx="5852160" cy="502920"/>
          </a:xfrm>
          <a:prstGeom prst="rect">
            <a:avLst/>
          </a:prstGeom>
          <a:noFill/>
          <a:ln/>
        </p:spPr>
        <p:txBody>
          <a:bodyPr wrap="square" lIns="0" tIns="0" rIns="0" bIns="0" rtlCol="0" anchor="t"/>
          <a:lstStyle/>
          <a:p>
            <a:pPr indent="0" marL="0">
              <a:buNone/>
            </a:pPr>
            <a:r>
              <a:rPr lang="en-US" sz="2100" b="1" dirty="0">
                <a:solidFill>
                  <a:srgbClr val="103D3A"/>
                </a:solidFill>
                <a:latin typeface="Malgun Gothic" pitchFamily="34" charset="0"/>
                <a:ea typeface="Malgun Gothic" pitchFamily="34" charset="-122"/>
                <a:cs typeface="Malgun Gothic" pitchFamily="34" charset="-120"/>
              </a:rPr>
              <a:t>직원이 남긴 기록을 매장별로</a:t>
            </a:r>
            <a:endParaRPr lang="en-US" sz="2100" dirty="0"/>
          </a:p>
        </p:txBody>
      </p:sp>
      <p:sp>
        <p:nvSpPr>
          <p:cNvPr id="5" name="Shape 3"/>
          <p:cNvSpPr/>
          <p:nvPr/>
        </p:nvSpPr>
        <p:spPr>
          <a:xfrm>
            <a:off x="685800" y="2743200"/>
            <a:ext cx="5760720" cy="2377440"/>
          </a:xfrm>
          <a:prstGeom prst="rect">
            <a:avLst/>
          </a:prstGeom>
          <a:solidFill>
            <a:srgbClr val="103D3A"/>
          </a:solidFill>
          <a:ln/>
        </p:spPr>
      </p:sp>
      <p:sp>
        <p:nvSpPr>
          <p:cNvPr id="6" name="Text 4"/>
          <p:cNvSpPr txBox="1"/>
          <p:nvPr/>
        </p:nvSpPr>
        <p:spPr>
          <a:xfrm>
            <a:off x="960120" y="2926080"/>
            <a:ext cx="1828800" cy="274320"/>
          </a:xfrm>
          <a:prstGeom prst="rect">
            <a:avLst/>
          </a:prstGeom>
          <a:noFill/>
          <a:ln/>
        </p:spPr>
        <p:txBody>
          <a:bodyPr wrap="square" lIns="0" tIns="0" rIns="0" bIns="0" rtlCol="0" anchor="t"/>
          <a:lstStyle/>
          <a:p>
            <a:pPr indent="0" marL="0">
              <a:buNone/>
            </a:pPr>
            <a:r>
              <a:rPr lang="en-US" sz="1200" b="1" spc="200" kern="0" dirty="0">
                <a:solidFill>
                  <a:srgbClr val="A9C2BC"/>
                </a:solidFill>
                <a:latin typeface="Malgun Gothic" pitchFamily="34" charset="0"/>
                <a:ea typeface="Malgun Gothic" pitchFamily="34" charset="-122"/>
                <a:cs typeface="Malgun Gothic" pitchFamily="34" charset="-120"/>
              </a:rPr>
              <a:t>BEFORE</a:t>
            </a:r>
            <a:endParaRPr lang="en-US" sz="1200" dirty="0"/>
          </a:p>
        </p:txBody>
      </p:sp>
      <p:sp>
        <p:nvSpPr>
          <p:cNvPr id="7" name="Text 5"/>
          <p:cNvSpPr txBox="1"/>
          <p:nvPr/>
        </p:nvSpPr>
        <p:spPr>
          <a:xfrm>
            <a:off x="960120" y="3200400"/>
            <a:ext cx="5303520" cy="502920"/>
          </a:xfrm>
          <a:prstGeom prst="rect">
            <a:avLst/>
          </a:prstGeom>
          <a:noFill/>
          <a:ln/>
        </p:spPr>
        <p:txBody>
          <a:bodyPr wrap="square" lIns="0" tIns="0" rIns="0" bIns="0" rtlCol="0" anchor="ctr"/>
          <a:lstStyle/>
          <a:p>
            <a:pPr indent="0" marL="0">
              <a:buNone/>
            </a:pPr>
            <a:r>
              <a:rPr lang="en-US" sz="2100" dirty="0">
                <a:solidFill>
                  <a:srgbClr val="CFE0DB"/>
                </a:solidFill>
                <a:latin typeface="Malgun Gothic" pitchFamily="34" charset="0"/>
                <a:ea typeface="Malgun Gothic" pitchFamily="34" charset="-122"/>
                <a:cs typeface="Malgun Gothic" pitchFamily="34" charset="-120"/>
              </a:rPr>
              <a:t>전화·카톡으로 묻던 확인</a:t>
            </a:r>
            <a:endParaRPr lang="en-US" sz="2100" dirty="0"/>
          </a:p>
        </p:txBody>
      </p:sp>
      <p:sp>
        <p:nvSpPr>
          <p:cNvPr id="8" name="Text 6"/>
          <p:cNvSpPr txBox="1"/>
          <p:nvPr/>
        </p:nvSpPr>
        <p:spPr>
          <a:xfrm>
            <a:off x="960120" y="3931920"/>
            <a:ext cx="1828800" cy="274320"/>
          </a:xfrm>
          <a:prstGeom prst="rect">
            <a:avLst/>
          </a:prstGeom>
          <a:noFill/>
          <a:ln/>
        </p:spPr>
        <p:txBody>
          <a:bodyPr wrap="square" lIns="0" tIns="0" rIns="0" bIns="0" rtlCol="0" anchor="t"/>
          <a:lstStyle/>
          <a:p>
            <a:pPr indent="0" marL="0">
              <a:buNone/>
            </a:pPr>
            <a:r>
              <a:rPr lang="en-US" sz="1200" b="1" spc="200" kern="0" dirty="0">
                <a:solidFill>
                  <a:srgbClr val="C9A46A"/>
                </a:solidFill>
                <a:latin typeface="Malgun Gothic" pitchFamily="34" charset="0"/>
                <a:ea typeface="Malgun Gothic" pitchFamily="34" charset="-122"/>
                <a:cs typeface="Malgun Gothic" pitchFamily="34" charset="-120"/>
              </a:rPr>
              <a:t>AFTER</a:t>
            </a:r>
            <a:endParaRPr lang="en-US" sz="1200" dirty="0"/>
          </a:p>
        </p:txBody>
      </p:sp>
      <p:sp>
        <p:nvSpPr>
          <p:cNvPr id="9" name="Text 7"/>
          <p:cNvSpPr txBox="1"/>
          <p:nvPr/>
        </p:nvSpPr>
        <p:spPr>
          <a:xfrm>
            <a:off x="960120" y="4206240"/>
            <a:ext cx="5303520" cy="640080"/>
          </a:xfrm>
          <a:prstGeom prst="rect">
            <a:avLst/>
          </a:prstGeom>
          <a:noFill/>
          <a:ln/>
        </p:spPr>
        <p:txBody>
          <a:bodyPr wrap="square" lIns="0" tIns="0" rIns="0" bIns="0" rtlCol="0" anchor="ctr"/>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매장별 기록을 한눈에</a:t>
            </a:r>
            <a:endParaRPr lang="en-US" sz="2800" dirty="0"/>
          </a:p>
        </p:txBody>
      </p:sp>
      <p:sp>
        <p:nvSpPr>
          <p:cNvPr id="10" name="Text 8"/>
          <p:cNvSpPr txBox="1"/>
          <p:nvPr/>
        </p:nvSpPr>
        <p:spPr>
          <a:xfrm>
            <a:off x="685800" y="5349240"/>
            <a:ext cx="5852160" cy="365760"/>
          </a:xfrm>
          <a:prstGeom prst="rect">
            <a:avLst/>
          </a:prstGeom>
          <a:noFill/>
          <a:ln/>
        </p:spPr>
        <p:txBody>
          <a:bodyPr wrap="square" lIns="0" tIns="0" rIns="0" bIns="0" rtlCol="0" anchor="t"/>
          <a:lstStyle/>
          <a:p>
            <a:pPr indent="0" marL="0">
              <a:buNone/>
            </a:pPr>
            <a:r>
              <a:rPr lang="en-US" sz="1400" dirty="0">
                <a:solidFill>
                  <a:srgbClr val="77746B"/>
                </a:solidFill>
                <a:latin typeface="Malgun Gothic" pitchFamily="34" charset="0"/>
                <a:ea typeface="Malgun Gothic" pitchFamily="34" charset="-122"/>
                <a:cs typeface="Malgun Gothic" pitchFamily="34" charset="-120"/>
              </a:rPr>
              <a:t>실제는 PIN 잠금 · 데모는 바로 열림</a:t>
            </a:r>
            <a:endParaRPr lang="en-US" sz="1400" dirty="0"/>
          </a:p>
        </p:txBody>
      </p:sp>
      <p:sp>
        <p:nvSpPr>
          <p:cNvPr id="11" name="Shape 9"/>
          <p:cNvSpPr/>
          <p:nvPr/>
        </p:nvSpPr>
        <p:spPr>
          <a:xfrm>
            <a:off x="6903720" y="640080"/>
            <a:ext cx="4754880" cy="4754880"/>
          </a:xfrm>
          <a:prstGeom prst="rect">
            <a:avLst/>
          </a:prstGeom>
          <a:solidFill>
            <a:srgbClr val="FFFFFF"/>
          </a:solidFill>
          <a:ln w="9525">
            <a:solidFill>
              <a:srgbClr val="D9D3C5"/>
            </a:solidFill>
            <a:prstDash val="solid"/>
          </a:ln>
          <a:effectLst>
            <a:outerShdw sx="100000" sy="100000" kx="0" ky="0" algn="bl" rotWithShape="0" blurRad="127000" dist="50800" dir="5400000">
              <a:srgbClr val="000000">
                <a:alpha val="12000"/>
              </a:srgbClr>
            </a:outerShdw>
          </a:effectLst>
        </p:spPr>
      </p:sp>
      <p:pic>
        <p:nvPicPr>
          <p:cNvPr id="12" name="Image 0" descr="떡기리 프로그램 화면">    </p:cNvPr>
          <p:cNvPicPr>
            <a:picLocks noChangeAspect="1"/>
          </p:cNvPicPr>
          <p:nvPr/>
        </p:nvPicPr>
        <p:blipFill>
          <a:blip r:embed="rId1"/>
          <a:stretch>
            <a:fillRect/>
          </a:stretch>
        </p:blipFill>
        <p:spPr>
          <a:xfrm>
            <a:off x="6949440" y="685800"/>
            <a:ext cx="4663440" cy="4663440"/>
          </a:xfrm>
          <a:prstGeom prst="rect">
            <a:avLst/>
          </a:prstGeom>
        </p:spPr>
      </p:pic>
      <p:sp>
        <p:nvSpPr>
          <p:cNvPr id="13" name="Text 10"/>
          <p:cNvSpPr txBox="1"/>
          <p:nvPr/>
        </p:nvSpPr>
        <p:spPr>
          <a:xfrm>
            <a:off x="8366760" y="5577840"/>
            <a:ext cx="1828800" cy="274320"/>
          </a:xfrm>
          <a:prstGeom prst="roundRect">
            <a:avLst>
              <a:gd name="adj" fmla="val 50000"/>
            </a:avLst>
          </a:prstGeom>
          <a:solidFill>
            <a:srgbClr val="EFE2C8"/>
          </a:solidFill>
          <a:ln/>
        </p:spPr>
        <p:txBody>
          <a:bodyPr wrap="square" lIns="0" tIns="0" rIns="0" bIns="0" rtlCol="0" anchor="ctr"/>
          <a:lstStyle/>
          <a:p>
            <a:pPr algn="ctr" indent="0" marL="0">
              <a:buNone/>
            </a:pPr>
            <a:r>
              <a:rPr lang="en-US" sz="1050" b="1" dirty="0">
                <a:solidFill>
                  <a:srgbClr val="17221F"/>
                </a:solidFill>
                <a:latin typeface="Malgun Gothic" pitchFamily="34" charset="0"/>
                <a:ea typeface="Malgun Gothic" pitchFamily="34" charset="-122"/>
                <a:cs typeface="Malgun Gothic" pitchFamily="34" charset="-120"/>
              </a:rPr>
              <a:t>데모 · 가상 데이터</a:t>
            </a:r>
            <a:endParaRPr lang="en-US" sz="1050" dirty="0"/>
          </a:p>
        </p:txBody>
      </p:sp>
      <p:sp>
        <p:nvSpPr>
          <p:cNvPr id="14" name="Shape 11"/>
          <p:cNvSpPr/>
          <p:nvPr/>
        </p:nvSpPr>
        <p:spPr>
          <a:xfrm>
            <a:off x="685800" y="6400800"/>
            <a:ext cx="1188720" cy="41148"/>
          </a:xfrm>
          <a:prstGeom prst="rect">
            <a:avLst/>
          </a:prstGeom>
          <a:solidFill>
            <a:srgbClr val="103D3A"/>
          </a:solidFill>
          <a:ln/>
        </p:spPr>
      </p:sp>
      <p:sp>
        <p:nvSpPr>
          <p:cNvPr id="15" name="Shape 12"/>
          <p:cNvSpPr/>
          <p:nvPr/>
        </p:nvSpPr>
        <p:spPr>
          <a:xfrm>
            <a:off x="1874520" y="6420917"/>
            <a:ext cx="4754880" cy="0"/>
          </a:xfrm>
          <a:prstGeom prst="line">
            <a:avLst/>
          </a:prstGeom>
          <a:noFill/>
          <a:ln w="9525">
            <a:solidFill>
              <a:srgbClr val="D9D3C5"/>
            </a:solidFill>
            <a:prstDash val="solid"/>
          </a:ln>
        </p:spPr>
      </p:sp>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640080"/>
            <a:ext cx="3657600" cy="320040"/>
          </a:xfrm>
          <a:prstGeom prst="rect">
            <a:avLst/>
          </a:prstGeom>
          <a:noFill/>
          <a:ln/>
        </p:spPr>
        <p:txBody>
          <a:bodyPr wrap="square" lIns="0" tIns="0" rIns="0" bIns="0" rtlCol="0" anchor="t"/>
          <a:lstStyle/>
          <a:p>
            <a:pPr indent="0" marL="0">
              <a:buNone/>
            </a:pPr>
            <a:r>
              <a:rPr lang="en-US" sz="1400" b="1" spc="100" kern="0" dirty="0">
                <a:solidFill>
                  <a:srgbClr val="C9A46A"/>
                </a:solidFill>
                <a:latin typeface="Malgun Gothic" pitchFamily="34" charset="0"/>
                <a:ea typeface="Malgun Gothic" pitchFamily="34" charset="-122"/>
                <a:cs typeface="Malgun Gothic" pitchFamily="34" charset="-120"/>
              </a:rPr>
              <a:t>두 번째 프로그램</a:t>
            </a:r>
            <a:endParaRPr lang="en-US" sz="1400" dirty="0"/>
          </a:p>
        </p:txBody>
      </p:sp>
      <p:sp>
        <p:nvSpPr>
          <p:cNvPr id="3" name="Text 1"/>
          <p:cNvSpPr txBox="1"/>
          <p:nvPr/>
        </p:nvSpPr>
        <p:spPr>
          <a:xfrm>
            <a:off x="685800" y="960120"/>
            <a:ext cx="4572000" cy="777240"/>
          </a:xfrm>
          <a:prstGeom prst="rect">
            <a:avLst/>
          </a:prstGeom>
          <a:noFill/>
          <a:ln/>
        </p:spPr>
        <p:txBody>
          <a:bodyPr wrap="square" lIns="0" tIns="0" rIns="0" bIns="0" rtlCol="0" anchor="t"/>
          <a:lstStyle/>
          <a:p>
            <a:pPr indent="0" marL="0">
              <a:buNone/>
            </a:pPr>
            <a:r>
              <a:rPr lang="en-US" sz="3600" b="1" dirty="0">
                <a:solidFill>
                  <a:srgbClr val="17221F"/>
                </a:solidFill>
                <a:latin typeface="Malgun Gothic" pitchFamily="34" charset="0"/>
                <a:ea typeface="Malgun Gothic" pitchFamily="34" charset="-122"/>
                <a:cs typeface="Malgun Gothic" pitchFamily="34" charset="-120"/>
              </a:rPr>
              <a:t>대표 운영 OS</a:t>
            </a:r>
            <a:endParaRPr lang="en-US" sz="3600" dirty="0"/>
          </a:p>
        </p:txBody>
      </p:sp>
      <p:sp>
        <p:nvSpPr>
          <p:cNvPr id="4" name="Text 2"/>
          <p:cNvSpPr txBox="1"/>
          <p:nvPr/>
        </p:nvSpPr>
        <p:spPr>
          <a:xfrm>
            <a:off x="685800" y="1783080"/>
            <a:ext cx="4389120" cy="914400"/>
          </a:xfrm>
          <a:prstGeom prst="rect">
            <a:avLst/>
          </a:prstGeom>
          <a:noFill/>
          <a:ln/>
        </p:spPr>
        <p:txBody>
          <a:bodyPr wrap="square" lIns="0" tIns="0" rIns="0" bIns="0" rtlCol="0" anchor="t"/>
          <a:lstStyle/>
          <a:p>
            <a:pPr indent="0" marL="0">
              <a:lnSpc>
                <a:spcPct val="110000"/>
              </a:lnSpc>
              <a:buNone/>
            </a:pPr>
            <a:r>
              <a:rPr lang="en-US" sz="2000" b="1" dirty="0">
                <a:solidFill>
                  <a:srgbClr val="103D3A"/>
                </a:solidFill>
                <a:latin typeface="Malgun Gothic" pitchFamily="34" charset="0"/>
                <a:ea typeface="Malgun Gothic" pitchFamily="34" charset="-122"/>
                <a:cs typeface="Malgun Gothic" pitchFamily="34" charset="-120"/>
              </a:rPr>
              <a:t>흩어진 경영 업무를</a:t>
            </a:r>
            <a:endParaRPr lang="en-US" sz="2000" dirty="0"/>
          </a:p>
          <a:p>
            <a:pPr indent="0" marL="0">
              <a:lnSpc>
                <a:spcPct val="110000"/>
              </a:lnSpc>
              <a:buNone/>
            </a:pPr>
            <a:r>
              <a:rPr lang="en-US" sz="2000" b="1" dirty="0">
                <a:solidFill>
                  <a:srgbClr val="103D3A"/>
                </a:solidFill>
                <a:latin typeface="Malgun Gothic" pitchFamily="34" charset="0"/>
                <a:ea typeface="Malgun Gothic" pitchFamily="34" charset="-122"/>
                <a:cs typeface="Malgun Gothic" pitchFamily="34" charset="-120"/>
              </a:rPr>
              <a:t>하나의 시스템으로</a:t>
            </a:r>
            <a:endParaRPr lang="en-US" sz="2000" dirty="0"/>
          </a:p>
        </p:txBody>
      </p:sp>
      <p:sp>
        <p:nvSpPr>
          <p:cNvPr id="5" name="Shape 3"/>
          <p:cNvSpPr/>
          <p:nvPr/>
        </p:nvSpPr>
        <p:spPr>
          <a:xfrm>
            <a:off x="713232" y="3264408"/>
            <a:ext cx="164592" cy="164592"/>
          </a:xfrm>
          <a:prstGeom prst="ellipse">
            <a:avLst/>
          </a:prstGeom>
          <a:solidFill>
            <a:srgbClr val="103D3A"/>
          </a:solidFill>
          <a:ln/>
        </p:spPr>
      </p:sp>
      <p:sp>
        <p:nvSpPr>
          <p:cNvPr id="6" name="Text 4"/>
          <p:cNvSpPr txBox="1"/>
          <p:nvPr/>
        </p:nvSpPr>
        <p:spPr>
          <a:xfrm>
            <a:off x="1005840" y="3154680"/>
            <a:ext cx="3474720" cy="384048"/>
          </a:xfrm>
          <a:prstGeom prst="rect">
            <a:avLst/>
          </a:prstGeom>
          <a:noFill/>
          <a:ln/>
        </p:spPr>
        <p:txBody>
          <a:bodyPr wrap="square" lIns="0" tIns="0" rIns="0" bIns="0" rtlCol="0" anchor="ctr"/>
          <a:lstStyle/>
          <a:p>
            <a:pPr indent="0" marL="0">
              <a:buNone/>
            </a:pPr>
            <a:r>
              <a:rPr lang="en-US" sz="1600" b="1" dirty="0">
                <a:solidFill>
                  <a:srgbClr val="17221F"/>
                </a:solidFill>
                <a:latin typeface="Malgun Gothic" pitchFamily="34" charset="0"/>
                <a:ea typeface="Malgun Gothic" pitchFamily="34" charset="-122"/>
                <a:cs typeface="Malgun Gothic" pitchFamily="34" charset="-120"/>
              </a:rPr>
              <a:t>실제 운영  </a:t>
            </a:r>
            <a:pPr indent="0" marL="0">
              <a:buNone/>
            </a:pPr>
            <a:r>
              <a:rPr lang="en-US" sz="1600" dirty="0">
                <a:solidFill>
                  <a:srgbClr val="17221F"/>
                </a:solidFill>
                <a:latin typeface="Malgun Gothic" pitchFamily="34" charset="0"/>
                <a:ea typeface="Malgun Gothic" pitchFamily="34" charset="-122"/>
                <a:cs typeface="Malgun Gothic" pitchFamily="34" charset="-120"/>
              </a:rPr>
              <a:t>11개</a:t>
            </a:r>
            <a:endParaRPr lang="en-US" sz="1600" dirty="0"/>
          </a:p>
        </p:txBody>
      </p:sp>
      <p:sp>
        <p:nvSpPr>
          <p:cNvPr id="7" name="Shape 5"/>
          <p:cNvSpPr/>
          <p:nvPr/>
        </p:nvSpPr>
        <p:spPr>
          <a:xfrm>
            <a:off x="713232" y="3721608"/>
            <a:ext cx="164592" cy="164592"/>
          </a:xfrm>
          <a:prstGeom prst="ellipse">
            <a:avLst/>
          </a:prstGeom>
          <a:solidFill>
            <a:srgbClr val="A39C8C"/>
          </a:solidFill>
          <a:ln/>
        </p:spPr>
      </p:sp>
      <p:sp>
        <p:nvSpPr>
          <p:cNvPr id="8" name="Text 6"/>
          <p:cNvSpPr txBox="1"/>
          <p:nvPr/>
        </p:nvSpPr>
        <p:spPr>
          <a:xfrm>
            <a:off x="1005840" y="3611880"/>
            <a:ext cx="3474720" cy="384048"/>
          </a:xfrm>
          <a:prstGeom prst="rect">
            <a:avLst/>
          </a:prstGeom>
          <a:noFill/>
          <a:ln/>
        </p:spPr>
        <p:txBody>
          <a:bodyPr wrap="square" lIns="0" tIns="0" rIns="0" bIns="0" rtlCol="0" anchor="ctr"/>
          <a:lstStyle/>
          <a:p>
            <a:pPr indent="0" marL="0">
              <a:buNone/>
            </a:pPr>
            <a:r>
              <a:rPr lang="en-US" sz="1600" b="1" dirty="0">
                <a:solidFill>
                  <a:srgbClr val="17221F"/>
                </a:solidFill>
                <a:latin typeface="Malgun Gothic" pitchFamily="34" charset="0"/>
                <a:ea typeface="Malgun Gothic" pitchFamily="34" charset="-122"/>
                <a:cs typeface="Malgun Gothic" pitchFamily="34" charset="-120"/>
              </a:rPr>
              <a:t>일부 구현  </a:t>
            </a:r>
            <a:pPr indent="0" marL="0">
              <a:buNone/>
            </a:pPr>
            <a:r>
              <a:rPr lang="en-US" sz="1600" dirty="0">
                <a:solidFill>
                  <a:srgbClr val="17221F"/>
                </a:solidFill>
                <a:latin typeface="Malgun Gothic" pitchFamily="34" charset="0"/>
                <a:ea typeface="Malgun Gothic" pitchFamily="34" charset="-122"/>
                <a:cs typeface="Malgun Gothic" pitchFamily="34" charset="-120"/>
              </a:rPr>
              <a:t>1개</a:t>
            </a:r>
            <a:endParaRPr lang="en-US" sz="1600" dirty="0"/>
          </a:p>
        </p:txBody>
      </p:sp>
      <p:sp>
        <p:nvSpPr>
          <p:cNvPr id="9" name="Text 7"/>
          <p:cNvSpPr txBox="1"/>
          <p:nvPr/>
        </p:nvSpPr>
        <p:spPr>
          <a:xfrm>
            <a:off x="1005840" y="4114800"/>
            <a:ext cx="3931920" cy="640080"/>
          </a:xfrm>
          <a:prstGeom prst="rect">
            <a:avLst/>
          </a:prstGeom>
          <a:noFill/>
          <a:ln/>
        </p:spPr>
        <p:txBody>
          <a:bodyPr wrap="square" lIns="0" tIns="0" rIns="0" bIns="0" rtlCol="0" anchor="t"/>
          <a:lstStyle/>
          <a:p>
            <a:pPr indent="0" marL="0">
              <a:buNone/>
            </a:pPr>
            <a:r>
              <a:rPr lang="en-US" sz="1200" dirty="0">
                <a:solidFill>
                  <a:srgbClr val="77746B"/>
                </a:solidFill>
                <a:latin typeface="Malgun Gothic" pitchFamily="34" charset="0"/>
                <a:ea typeface="Malgun Gothic" pitchFamily="34" charset="-122"/>
                <a:cs typeface="Malgun Gothic" pitchFamily="34" charset="-120"/>
              </a:rPr>
              <a:t>일부 구현 = AI 시장 브리핑 (자동 조사 확인 중)</a:t>
            </a:r>
            <a:endParaRPr lang="en-US" sz="1200" dirty="0"/>
          </a:p>
          <a:p>
            <a:pPr indent="0" marL="0">
              <a:buNone/>
            </a:pPr>
            <a:r>
              <a:rPr lang="en-US" sz="1200" dirty="0">
                <a:solidFill>
                  <a:srgbClr val="77746B"/>
                </a:solidFill>
                <a:latin typeface="Malgun Gothic" pitchFamily="34" charset="0"/>
                <a:ea typeface="Malgun Gothic" pitchFamily="34" charset="-122"/>
                <a:cs typeface="Malgun Gothic" pitchFamily="34" charset="-120"/>
              </a:rPr>
              <a:t>준비 중 — 매출·손익 · 재고·발주 · 매니저 권한</a:t>
            </a:r>
            <a:endParaRPr lang="en-US" sz="1200" dirty="0"/>
          </a:p>
        </p:txBody>
      </p:sp>
      <p:sp>
        <p:nvSpPr>
          <p:cNvPr id="10" name="Text 8">
            <a:hlinkClick r:id="rId1" tooltip="https://tteokgiri-owner-os-demo.vercel.app"/>
          </p:cNvPr>
          <p:cNvSpPr txBox="1"/>
          <p:nvPr/>
        </p:nvSpPr>
        <p:spPr>
          <a:xfrm>
            <a:off x="685800" y="5212080"/>
            <a:ext cx="2514600" cy="402336"/>
          </a:xfrm>
          <a:prstGeom prst="roundRect">
            <a:avLst>
              <a:gd name="adj" fmla="val 50000"/>
            </a:avLst>
          </a:prstGeom>
          <a:solidFill>
            <a:srgbClr val="103D3A"/>
          </a:solidFill>
          <a:ln/>
        </p:spPr>
        <p:txBody>
          <a:bodyPr wrap="square" lIns="0" tIns="0" rIns="0" bIns="0" rtlCol="0" anchor="ctr"/>
          <a:lstStyle/>
          <a:p>
            <a:pPr algn="ctr" indent="0" marL="0">
              <a:buNone/>
            </a:pPr>
            <a:r>
              <a:rPr lang="en-US" sz="1300" b="1" u="sng" dirty="0">
                <a:solidFill>
                  <a:srgbClr val="FFFFFF"/>
                </a:solidFill>
                <a:latin typeface="Malgun Gothic" pitchFamily="34" charset="0"/>
                <a:ea typeface="Malgun Gothic" pitchFamily="34" charset="-122"/>
                <a:cs typeface="Malgun Gothic" pitchFamily="34" charset="-120"/>
                <a:hlinkClick r:id="rId1" invalidUrl="" action="" tgtFrame="" tooltip="https://tteokgiri-owner-os-demo.vercel.app" history="1" highlightClick="0" endSnd="0">
                  <a:extLst>
                    <a:ext uri="{A12FA001-AC4F-418D-AE19-62706E023703}">
                      <ahyp:hlinkClr xmlns:ahyp="http://schemas.microsoft.com/office/drawing/2018/hyperlinkcolor" val="tx"/>
                    </a:ext>
                  </a:extLst>
                </a:hlinkClick>
              </a:rPr>
              <a:t>대표 OS 데모 열기</a:t>
            </a:r>
            <a:endParaRPr lang="en-US" sz="1300" dirty="0"/>
          </a:p>
        </p:txBody>
      </p:sp>
      <p:sp>
        <p:nvSpPr>
          <p:cNvPr id="11" name="Text 9">
            <a:hlinkClick r:id="rId2" tooltip="https://tteokgiri-owner-os-demo.vercel.app"/>
          </p:cNvPr>
          <p:cNvSpPr txBox="1"/>
          <p:nvPr/>
        </p:nvSpPr>
        <p:spPr>
          <a:xfrm>
            <a:off x="3273552" y="5212080"/>
            <a:ext cx="566928" cy="402336"/>
          </a:xfrm>
          <a:prstGeom prst="roundRect">
            <a:avLst>
              <a:gd name="adj" fmla="val 50000"/>
            </a:avLst>
          </a:prstGeom>
          <a:solidFill>
            <a:srgbClr val="0B2C29"/>
          </a:solidFill>
          <a:ln/>
        </p:spPr>
        <p:txBody>
          <a:bodyPr wrap="square" lIns="0" tIns="0" rIns="0" bIns="0" rtlCol="0" anchor="ctr"/>
          <a:lstStyle/>
          <a:p>
            <a:pPr algn="ctr" indent="0" marL="0">
              <a:buNone/>
            </a:pPr>
            <a:r>
              <a:rPr lang="en-US" sz="1500" b="1" u="sng" dirty="0">
                <a:solidFill>
                  <a:srgbClr val="FFFFFF"/>
                </a:solidFill>
                <a:latin typeface="Malgun Gothic" pitchFamily="34" charset="0"/>
                <a:ea typeface="Malgun Gothic" pitchFamily="34" charset="-122"/>
                <a:cs typeface="Malgun Gothic" pitchFamily="34" charset="-120"/>
                <a:hlinkClick r:id="rId2" invalidUrl="" action="" tgtFrame="" tooltip="https://tteokgiri-owner-os-demo.vercel.app" history="1" highlightClick="0" endSnd="0">
                  <a:extLst>
                    <a:ext uri="{A12FA001-AC4F-418D-AE19-62706E023703}">
                      <ahyp:hlinkClr xmlns:ahyp="http://schemas.microsoft.com/office/drawing/2018/hyperlinkcolor" val="tx"/>
                    </a:ext>
                  </a:extLst>
                </a:hlinkClick>
              </a:rPr>
              <a:t>→</a:t>
            </a:r>
            <a:endParaRPr lang="en-US" sz="1500" dirty="0"/>
          </a:p>
        </p:txBody>
      </p:sp>
      <p:sp>
        <p:nvSpPr>
          <p:cNvPr id="12" name="Shape 10"/>
          <p:cNvSpPr/>
          <p:nvPr/>
        </p:nvSpPr>
        <p:spPr>
          <a:xfrm>
            <a:off x="685800" y="6400800"/>
            <a:ext cx="1188720" cy="41148"/>
          </a:xfrm>
          <a:prstGeom prst="rect">
            <a:avLst/>
          </a:prstGeom>
          <a:solidFill>
            <a:srgbClr val="103D3A"/>
          </a:solidFill>
          <a:ln/>
        </p:spPr>
      </p:sp>
      <p:sp>
        <p:nvSpPr>
          <p:cNvPr id="13" name="Shape 11"/>
          <p:cNvSpPr/>
          <p:nvPr/>
        </p:nvSpPr>
        <p:spPr>
          <a:xfrm>
            <a:off x="1874520" y="6420917"/>
            <a:ext cx="2880360" cy="0"/>
          </a:xfrm>
          <a:prstGeom prst="line">
            <a:avLst/>
          </a:prstGeom>
          <a:noFill/>
          <a:ln w="9525">
            <a:solidFill>
              <a:srgbClr val="D9D3C5"/>
            </a:solidFill>
            <a:prstDash val="solid"/>
          </a:ln>
        </p:spPr>
      </p:sp>
      <p:sp>
        <p:nvSpPr>
          <p:cNvPr id="14" name="Shape 12"/>
          <p:cNvSpPr/>
          <p:nvPr/>
        </p:nvSpPr>
        <p:spPr>
          <a:xfrm>
            <a:off x="4983480" y="457200"/>
            <a:ext cx="3658678" cy="5532120"/>
          </a:xfrm>
          <a:prstGeom prst="rect">
            <a:avLst/>
          </a:prstGeom>
          <a:solidFill>
            <a:srgbClr val="FFFFFF"/>
          </a:solidFill>
          <a:ln w="9525">
            <a:solidFill>
              <a:srgbClr val="D9D3C5"/>
            </a:solidFill>
            <a:prstDash val="solid"/>
          </a:ln>
          <a:effectLst>
            <a:outerShdw sx="100000" sy="100000" kx="0" ky="0" algn="bl" rotWithShape="0" blurRad="127000" dist="50800" dir="5400000">
              <a:srgbClr val="000000">
                <a:alpha val="12000"/>
              </a:srgbClr>
            </a:outerShdw>
          </a:effectLst>
        </p:spPr>
      </p:sp>
      <p:pic>
        <p:nvPicPr>
          <p:cNvPr id="15" name="Image 0" descr="떡기리 프로그램 화면">    </p:cNvPr>
          <p:cNvPicPr>
            <a:picLocks noChangeAspect="1"/>
          </p:cNvPicPr>
          <p:nvPr/>
        </p:nvPicPr>
        <p:blipFill>
          <a:blip r:embed="rId3"/>
          <a:stretch>
            <a:fillRect/>
          </a:stretch>
        </p:blipFill>
        <p:spPr>
          <a:xfrm>
            <a:off x="5029200" y="502920"/>
            <a:ext cx="3567238" cy="5440680"/>
          </a:xfrm>
          <a:prstGeom prst="rect">
            <a:avLst/>
          </a:prstGeom>
        </p:spPr>
      </p:pic>
      <p:sp>
        <p:nvSpPr>
          <p:cNvPr id="16" name="Text 13"/>
          <p:cNvSpPr txBox="1"/>
          <p:nvPr/>
        </p:nvSpPr>
        <p:spPr>
          <a:xfrm>
            <a:off x="5624099" y="6108192"/>
            <a:ext cx="2377440" cy="274320"/>
          </a:xfrm>
          <a:prstGeom prst="roundRect">
            <a:avLst>
              <a:gd name="adj" fmla="val 50000"/>
            </a:avLst>
          </a:prstGeom>
          <a:solidFill>
            <a:srgbClr val="EFE2C8"/>
          </a:solidFill>
          <a:ln/>
        </p:spPr>
        <p:txBody>
          <a:bodyPr wrap="square" lIns="0" tIns="0" rIns="0" bIns="0" rtlCol="0" anchor="ctr"/>
          <a:lstStyle/>
          <a:p>
            <a:pPr algn="ctr" indent="0" marL="0">
              <a:buNone/>
            </a:pPr>
            <a:r>
              <a:rPr lang="en-US" sz="1050" b="1" dirty="0">
                <a:solidFill>
                  <a:srgbClr val="17221F"/>
                </a:solidFill>
                <a:latin typeface="Malgun Gothic" pitchFamily="34" charset="0"/>
                <a:ea typeface="Malgun Gothic" pitchFamily="34" charset="-122"/>
                <a:cs typeface="Malgun Gothic" pitchFamily="34" charset="-120"/>
              </a:rPr>
              <a:t>대표 OS 데모 화면 · 가상 데이터</a:t>
            </a:r>
            <a:endParaRPr lang="en-US" sz="1050" dirty="0"/>
          </a:p>
        </p:txBody>
      </p:sp>
      <p:sp>
        <p:nvSpPr>
          <p:cNvPr id="17" name="Shape 14"/>
          <p:cNvSpPr/>
          <p:nvPr/>
        </p:nvSpPr>
        <p:spPr>
          <a:xfrm>
            <a:off x="8778240" y="502920"/>
            <a:ext cx="2880360" cy="2880360"/>
          </a:xfrm>
          <a:prstGeom prst="rect">
            <a:avLst/>
          </a:prstGeom>
          <a:solidFill>
            <a:srgbClr val="103D3A"/>
          </a:solidFill>
          <a:ln/>
        </p:spPr>
      </p:sp>
      <p:sp>
        <p:nvSpPr>
          <p:cNvPr id="18" name="Text 15"/>
          <p:cNvSpPr txBox="1"/>
          <p:nvPr/>
        </p:nvSpPr>
        <p:spPr>
          <a:xfrm>
            <a:off x="9052560" y="777240"/>
            <a:ext cx="2423160" cy="1188720"/>
          </a:xfrm>
          <a:prstGeom prst="rect">
            <a:avLst/>
          </a:prstGeom>
          <a:noFill/>
          <a:ln/>
        </p:spPr>
        <p:txBody>
          <a:bodyPr wrap="square" lIns="0" tIns="0" rIns="0" bIns="0" rtlCol="0" anchor="ctr"/>
          <a:lstStyle/>
          <a:p>
            <a:pPr indent="0" marL="0">
              <a:buNone/>
            </a:pPr>
            <a:r>
              <a:rPr lang="en-US" sz="8000" b="1" dirty="0">
                <a:solidFill>
                  <a:srgbClr val="FFFFFF"/>
                </a:solidFill>
                <a:latin typeface="Malgun Gothic" pitchFamily="34" charset="0"/>
                <a:ea typeface="Malgun Gothic" pitchFamily="34" charset="-122"/>
                <a:cs typeface="Malgun Gothic" pitchFamily="34" charset="-120"/>
              </a:rPr>
              <a:t>12</a:t>
            </a:r>
            <a:endParaRPr lang="en-US" sz="8000" dirty="0"/>
          </a:p>
        </p:txBody>
      </p:sp>
      <p:sp>
        <p:nvSpPr>
          <p:cNvPr id="19" name="Text 16"/>
          <p:cNvSpPr txBox="1"/>
          <p:nvPr/>
        </p:nvSpPr>
        <p:spPr>
          <a:xfrm>
            <a:off x="9070848" y="2103120"/>
            <a:ext cx="2423160" cy="868680"/>
          </a:xfrm>
          <a:prstGeom prst="rect">
            <a:avLst/>
          </a:prstGeom>
          <a:noFill/>
          <a:ln/>
        </p:spPr>
        <p:txBody>
          <a:bodyPr wrap="square" lIns="0" tIns="0" rIns="0" bIns="0" rtlCol="0" anchor="t"/>
          <a:lstStyle/>
          <a:p>
            <a:pPr indent="0" marL="0">
              <a:buNone/>
            </a:pPr>
            <a:r>
              <a:rPr lang="en-US" sz="1600" b="1" dirty="0">
                <a:solidFill>
                  <a:srgbClr val="CFE0DB"/>
                </a:solidFill>
                <a:latin typeface="Malgun Gothic" pitchFamily="34" charset="0"/>
                <a:ea typeface="Malgun Gothic" pitchFamily="34" charset="-122"/>
                <a:cs typeface="Malgun Gothic" pitchFamily="34" charset="-120"/>
              </a:rPr>
              <a:t>가지 경영 기능</a:t>
            </a:r>
            <a:endParaRPr lang="en-US" sz="1600" dirty="0"/>
          </a:p>
        </p:txBody>
      </p:sp>
      <p:sp>
        <p:nvSpPr>
          <p:cNvPr id="20" name="Shape 17"/>
          <p:cNvSpPr/>
          <p:nvPr/>
        </p:nvSpPr>
        <p:spPr>
          <a:xfrm>
            <a:off x="8778240" y="3520440"/>
            <a:ext cx="2880360" cy="2743200"/>
          </a:xfrm>
          <a:prstGeom prst="rect">
            <a:avLst/>
          </a:prstGeom>
          <a:solidFill>
            <a:srgbClr val="0B2C29"/>
          </a:solidFill>
          <a:ln/>
        </p:spPr>
      </p:sp>
      <p:sp>
        <p:nvSpPr>
          <p:cNvPr id="21" name="Text 18"/>
          <p:cNvSpPr txBox="1"/>
          <p:nvPr/>
        </p:nvSpPr>
        <p:spPr>
          <a:xfrm>
            <a:off x="9052560" y="3794760"/>
            <a:ext cx="2423160" cy="1188720"/>
          </a:xfrm>
          <a:prstGeom prst="rect">
            <a:avLst/>
          </a:prstGeom>
          <a:noFill/>
          <a:ln/>
        </p:spPr>
        <p:txBody>
          <a:bodyPr wrap="square" lIns="0" tIns="0" rIns="0" bIns="0" rtlCol="0" anchor="ctr"/>
          <a:lstStyle/>
          <a:p>
            <a:pPr indent="0" marL="0">
              <a:buNone/>
            </a:pPr>
            <a:r>
              <a:rPr lang="en-US" sz="8000" b="1" dirty="0">
                <a:solidFill>
                  <a:srgbClr val="FFFFFF"/>
                </a:solidFill>
                <a:latin typeface="Malgun Gothic" pitchFamily="34" charset="0"/>
                <a:ea typeface="Malgun Gothic" pitchFamily="34" charset="-122"/>
                <a:cs typeface="Malgun Gothic" pitchFamily="34" charset="-120"/>
              </a:rPr>
              <a:t>1</a:t>
            </a:r>
            <a:endParaRPr lang="en-US" sz="8000" dirty="0"/>
          </a:p>
        </p:txBody>
      </p:sp>
      <p:sp>
        <p:nvSpPr>
          <p:cNvPr id="22" name="Text 19"/>
          <p:cNvSpPr txBox="1"/>
          <p:nvPr/>
        </p:nvSpPr>
        <p:spPr>
          <a:xfrm>
            <a:off x="9070848" y="5120640"/>
            <a:ext cx="2423160" cy="868680"/>
          </a:xfrm>
          <a:prstGeom prst="rect">
            <a:avLst/>
          </a:prstGeom>
          <a:noFill/>
          <a:ln/>
        </p:spPr>
        <p:txBody>
          <a:bodyPr wrap="square" lIns="0" tIns="0" rIns="0" bIns="0" rtlCol="0" anchor="t"/>
          <a:lstStyle/>
          <a:p>
            <a:pPr indent="0" marL="0">
              <a:buNone/>
            </a:pPr>
            <a:r>
              <a:rPr lang="en-US" sz="1600" b="1" dirty="0">
                <a:solidFill>
                  <a:srgbClr val="C9A46A"/>
                </a:solidFill>
                <a:latin typeface="Malgun Gothic" pitchFamily="34" charset="0"/>
                <a:ea typeface="Malgun Gothic" pitchFamily="34" charset="-122"/>
                <a:cs typeface="Malgun Gothic" pitchFamily="34" charset="-120"/>
              </a:rPr>
              <a:t>개의 통합 운영 시스템</a:t>
            </a:r>
            <a:endParaRPr lang="en-US" sz="1600" dirty="0"/>
          </a:p>
          <a:p>
            <a:pPr indent="0" marL="0">
              <a:buNone/>
            </a:pPr>
            <a:r>
              <a:rPr lang="en-US" sz="1600" b="1" dirty="0">
                <a:solidFill>
                  <a:srgbClr val="C9A46A"/>
                </a:solidFill>
                <a:latin typeface="Malgun Gothic" pitchFamily="34" charset="0"/>
                <a:ea typeface="Malgun Gothic" pitchFamily="34" charset="-122"/>
                <a:cs typeface="Malgun Gothic" pitchFamily="34" charset="-120"/>
              </a:rPr>
              <a:t>문제는 모두 홈으로</a:t>
            </a:r>
            <a:endParaRPr lang="en-US" sz="1600" dirty="0"/>
          </a:p>
        </p:txBody>
      </p:sp>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40080" y="457200"/>
            <a:ext cx="3403622" cy="5715000"/>
          </a:xfrm>
          <a:prstGeom prst="rect">
            <a:avLst/>
          </a:prstGeom>
          <a:solidFill>
            <a:srgbClr val="FFFFFF"/>
          </a:solidFill>
          <a:ln w="9525">
            <a:solidFill>
              <a:srgbClr val="D9D3C5"/>
            </a:solidFill>
            <a:prstDash val="solid"/>
          </a:ln>
          <a:effectLst>
            <a:outerShdw sx="100000" sy="100000" kx="0" ky="0" algn="bl" rotWithShape="0" blurRad="127000" dist="50800" dir="5400000">
              <a:srgbClr val="000000">
                <a:alpha val="12000"/>
              </a:srgbClr>
            </a:outerShdw>
          </a:effectLst>
        </p:spPr>
      </p:sp>
      <p:pic>
        <p:nvPicPr>
          <p:cNvPr id="3" name="Image 0" descr="떡기리 프로그램 화면">    </p:cNvPr>
          <p:cNvPicPr>
            <a:picLocks noChangeAspect="1"/>
          </p:cNvPicPr>
          <p:nvPr/>
        </p:nvPicPr>
        <p:blipFill>
          <a:blip r:embed="rId1"/>
          <a:stretch>
            <a:fillRect/>
          </a:stretch>
        </p:blipFill>
        <p:spPr>
          <a:xfrm>
            <a:off x="685800" y="502920"/>
            <a:ext cx="3312182" cy="5623560"/>
          </a:xfrm>
          <a:prstGeom prst="rect">
            <a:avLst/>
          </a:prstGeom>
        </p:spPr>
      </p:pic>
      <p:sp>
        <p:nvSpPr>
          <p:cNvPr id="4" name="Text 1"/>
          <p:cNvSpPr txBox="1"/>
          <p:nvPr/>
        </p:nvSpPr>
        <p:spPr>
          <a:xfrm>
            <a:off x="1244611" y="6236208"/>
            <a:ext cx="2194560" cy="274320"/>
          </a:xfrm>
          <a:prstGeom prst="roundRect">
            <a:avLst>
              <a:gd name="adj" fmla="val 50000"/>
            </a:avLst>
          </a:prstGeom>
          <a:solidFill>
            <a:srgbClr val="EFE2C8"/>
          </a:solidFill>
          <a:ln/>
        </p:spPr>
        <p:txBody>
          <a:bodyPr wrap="square" lIns="0" tIns="0" rIns="0" bIns="0" rtlCol="0" anchor="ctr"/>
          <a:lstStyle/>
          <a:p>
            <a:pPr algn="ctr" indent="0" marL="0">
              <a:buNone/>
            </a:pPr>
            <a:r>
              <a:rPr lang="en-US" sz="1050" b="1" dirty="0">
                <a:solidFill>
                  <a:srgbClr val="17221F"/>
                </a:solidFill>
                <a:latin typeface="Malgun Gothic" pitchFamily="34" charset="0"/>
                <a:ea typeface="Malgun Gothic" pitchFamily="34" charset="-122"/>
                <a:cs typeface="Malgun Gothic" pitchFamily="34" charset="-120"/>
              </a:rPr>
              <a:t>대표 OS 데모 · 가상 데이터</a:t>
            </a:r>
            <a:endParaRPr lang="en-US" sz="1050" dirty="0"/>
          </a:p>
        </p:txBody>
      </p:sp>
      <p:sp>
        <p:nvSpPr>
          <p:cNvPr id="5" name="Text 2"/>
          <p:cNvSpPr txBox="1"/>
          <p:nvPr/>
        </p:nvSpPr>
        <p:spPr>
          <a:xfrm>
            <a:off x="4434840" y="2697480"/>
            <a:ext cx="2560320" cy="365760"/>
          </a:xfrm>
          <a:prstGeom prst="rect">
            <a:avLst/>
          </a:prstGeom>
          <a:noFill/>
          <a:ln/>
        </p:spPr>
        <p:txBody>
          <a:bodyPr wrap="square" lIns="0" tIns="0" rIns="0" bIns="0" rtlCol="0" anchor="t"/>
          <a:lstStyle/>
          <a:p>
            <a:pPr indent="0" marL="0">
              <a:buNone/>
            </a:pPr>
            <a:r>
              <a:rPr lang="en-US" sz="1500" b="1" dirty="0">
                <a:solidFill>
                  <a:srgbClr val="C9A46A"/>
                </a:solidFill>
                <a:latin typeface="Malgun Gothic" pitchFamily="34" charset="0"/>
                <a:ea typeface="Malgun Gothic" pitchFamily="34" charset="-122"/>
                <a:cs typeface="Malgun Gothic" pitchFamily="34" charset="-120"/>
              </a:rPr>
              <a:t>저장하면  →</a:t>
            </a:r>
            <a:endParaRPr lang="en-US" sz="1500" dirty="0"/>
          </a:p>
        </p:txBody>
      </p:sp>
      <p:sp>
        <p:nvSpPr>
          <p:cNvPr id="6" name="Shape 3"/>
          <p:cNvSpPr/>
          <p:nvPr/>
        </p:nvSpPr>
        <p:spPr>
          <a:xfrm>
            <a:off x="4389120" y="3108960"/>
            <a:ext cx="2718206" cy="2926080"/>
          </a:xfrm>
          <a:prstGeom prst="rect">
            <a:avLst/>
          </a:prstGeom>
          <a:solidFill>
            <a:srgbClr val="FFFFFF"/>
          </a:solidFill>
          <a:ln w="9525">
            <a:solidFill>
              <a:srgbClr val="D9D3C5"/>
            </a:solidFill>
            <a:prstDash val="solid"/>
          </a:ln>
          <a:effectLst>
            <a:outerShdw sx="100000" sy="100000" kx="0" ky="0" algn="bl" rotWithShape="0" blurRad="127000" dist="50800" dir="5400000">
              <a:srgbClr val="000000">
                <a:alpha val="12000"/>
              </a:srgbClr>
            </a:outerShdw>
          </a:effectLst>
        </p:spPr>
      </p:sp>
      <p:pic>
        <p:nvPicPr>
          <p:cNvPr id="7" name="Image 1" descr="떡기리 프로그램 화면">    </p:cNvPr>
          <p:cNvPicPr>
            <a:picLocks noChangeAspect="1"/>
          </p:cNvPicPr>
          <p:nvPr/>
        </p:nvPicPr>
        <p:blipFill>
          <a:blip r:embed="rId2"/>
          <a:stretch>
            <a:fillRect/>
          </a:stretch>
        </p:blipFill>
        <p:spPr>
          <a:xfrm>
            <a:off x="4434840" y="3154680"/>
            <a:ext cx="2626766" cy="2834640"/>
          </a:xfrm>
          <a:prstGeom prst="rect">
            <a:avLst/>
          </a:prstGeom>
        </p:spPr>
      </p:pic>
      <p:sp>
        <p:nvSpPr>
          <p:cNvPr id="8" name="Text 4"/>
          <p:cNvSpPr txBox="1"/>
          <p:nvPr/>
        </p:nvSpPr>
        <p:spPr>
          <a:xfrm>
            <a:off x="7635240" y="640080"/>
            <a:ext cx="4023360" cy="320040"/>
          </a:xfrm>
          <a:prstGeom prst="rect">
            <a:avLst/>
          </a:prstGeom>
          <a:noFill/>
          <a:ln/>
        </p:spPr>
        <p:txBody>
          <a:bodyPr wrap="square" lIns="0" tIns="0" rIns="0" bIns="0" rtlCol="0" anchor="t"/>
          <a:lstStyle/>
          <a:p>
            <a:pPr indent="0" marL="0">
              <a:buNone/>
            </a:pPr>
            <a:r>
              <a:rPr lang="en-US" sz="1400" b="1" spc="100" kern="0" dirty="0">
                <a:solidFill>
                  <a:srgbClr val="C9A46A"/>
                </a:solidFill>
                <a:latin typeface="Malgun Gothic" pitchFamily="34" charset="0"/>
                <a:ea typeface="Malgun Gothic" pitchFamily="34" charset="-122"/>
                <a:cs typeface="Malgun Gothic" pitchFamily="34" charset="-120"/>
              </a:rPr>
              <a:t>시연 ②</a:t>
            </a:r>
            <a:endParaRPr lang="en-US" sz="1400" dirty="0"/>
          </a:p>
        </p:txBody>
      </p:sp>
      <p:sp>
        <p:nvSpPr>
          <p:cNvPr id="9" name="Text 5"/>
          <p:cNvSpPr txBox="1"/>
          <p:nvPr/>
        </p:nvSpPr>
        <p:spPr>
          <a:xfrm>
            <a:off x="7635240" y="960120"/>
            <a:ext cx="4023360" cy="1280160"/>
          </a:xfrm>
          <a:prstGeom prst="rect">
            <a:avLst/>
          </a:prstGeom>
          <a:noFill/>
          <a:ln/>
        </p:spPr>
        <p:txBody>
          <a:bodyPr wrap="square" lIns="0" tIns="0" rIns="0" bIns="0" rtlCol="0" anchor="t"/>
          <a:lstStyle/>
          <a:p>
            <a:pPr indent="0" marL="0">
              <a:lnSpc>
                <a:spcPct val="105000"/>
              </a:lnSpc>
              <a:buNone/>
            </a:pPr>
            <a:r>
              <a:rPr lang="en-US" sz="3200" b="1" dirty="0">
                <a:solidFill>
                  <a:srgbClr val="17221F"/>
                </a:solidFill>
                <a:latin typeface="Malgun Gothic" pitchFamily="34" charset="0"/>
                <a:ea typeface="Malgun Gothic" pitchFamily="34" charset="-122"/>
                <a:cs typeface="Malgun Gothic" pitchFamily="34" charset="-120"/>
              </a:rPr>
              <a:t>매장 문제가</a:t>
            </a:r>
            <a:endParaRPr lang="en-US" sz="3200" dirty="0"/>
          </a:p>
          <a:p>
            <a:pPr indent="0" marL="0">
              <a:lnSpc>
                <a:spcPct val="105000"/>
              </a:lnSpc>
              <a:buNone/>
            </a:pPr>
            <a:r>
              <a:rPr lang="en-US" sz="3200" b="1" dirty="0">
                <a:solidFill>
                  <a:srgbClr val="17221F"/>
                </a:solidFill>
                <a:latin typeface="Malgun Gothic" pitchFamily="34" charset="0"/>
                <a:ea typeface="Malgun Gothic" pitchFamily="34" charset="-122"/>
                <a:cs typeface="Malgun Gothic" pitchFamily="34" charset="-120"/>
              </a:rPr>
              <a:t>대표 할 일로</a:t>
            </a:r>
            <a:endParaRPr lang="en-US" sz="3200" dirty="0"/>
          </a:p>
        </p:txBody>
      </p:sp>
      <p:sp>
        <p:nvSpPr>
          <p:cNvPr id="10" name="Shape 6"/>
          <p:cNvSpPr/>
          <p:nvPr/>
        </p:nvSpPr>
        <p:spPr>
          <a:xfrm>
            <a:off x="7635240" y="2423160"/>
            <a:ext cx="4023360" cy="2011680"/>
          </a:xfrm>
          <a:prstGeom prst="rect">
            <a:avLst/>
          </a:prstGeom>
          <a:solidFill>
            <a:srgbClr val="103D3A"/>
          </a:solidFill>
          <a:ln/>
        </p:spPr>
      </p:sp>
      <p:sp>
        <p:nvSpPr>
          <p:cNvPr id="11" name="Text 7"/>
          <p:cNvSpPr txBox="1"/>
          <p:nvPr/>
        </p:nvSpPr>
        <p:spPr>
          <a:xfrm>
            <a:off x="7863840" y="2560320"/>
            <a:ext cx="1828800" cy="274320"/>
          </a:xfrm>
          <a:prstGeom prst="rect">
            <a:avLst/>
          </a:prstGeom>
          <a:noFill/>
          <a:ln/>
        </p:spPr>
        <p:txBody>
          <a:bodyPr wrap="square" lIns="0" tIns="0" rIns="0" bIns="0" rtlCol="0" anchor="t"/>
          <a:lstStyle/>
          <a:p>
            <a:pPr indent="0" marL="0">
              <a:buNone/>
            </a:pPr>
            <a:r>
              <a:rPr lang="en-US" sz="1200" b="1" spc="200" kern="0" dirty="0">
                <a:solidFill>
                  <a:srgbClr val="A9C2BC"/>
                </a:solidFill>
                <a:latin typeface="Malgun Gothic" pitchFamily="34" charset="0"/>
                <a:ea typeface="Malgun Gothic" pitchFamily="34" charset="-122"/>
                <a:cs typeface="Malgun Gothic" pitchFamily="34" charset="-120"/>
              </a:rPr>
              <a:t>BEFORE</a:t>
            </a:r>
            <a:endParaRPr lang="en-US" sz="1200" dirty="0"/>
          </a:p>
        </p:txBody>
      </p:sp>
      <p:sp>
        <p:nvSpPr>
          <p:cNvPr id="12" name="Text 8"/>
          <p:cNvSpPr txBox="1"/>
          <p:nvPr/>
        </p:nvSpPr>
        <p:spPr>
          <a:xfrm>
            <a:off x="7863840" y="2834640"/>
            <a:ext cx="3657600" cy="457200"/>
          </a:xfrm>
          <a:prstGeom prst="rect">
            <a:avLst/>
          </a:prstGeom>
          <a:noFill/>
          <a:ln/>
        </p:spPr>
        <p:txBody>
          <a:bodyPr wrap="square" lIns="0" tIns="0" rIns="0" bIns="0" rtlCol="0" anchor="ctr"/>
          <a:lstStyle/>
          <a:p>
            <a:pPr indent="0" marL="0">
              <a:buNone/>
            </a:pPr>
            <a:r>
              <a:rPr lang="en-US" sz="1600" dirty="0">
                <a:solidFill>
                  <a:srgbClr val="CFE0DB"/>
                </a:solidFill>
                <a:latin typeface="Malgun Gothic" pitchFamily="34" charset="0"/>
                <a:ea typeface="Malgun Gothic" pitchFamily="34" charset="-122"/>
                <a:cs typeface="Malgun Gothic" pitchFamily="34" charset="-120"/>
              </a:rPr>
              <a:t>매장 문제를 직접 찾아다니며 확인</a:t>
            </a:r>
            <a:endParaRPr lang="en-US" sz="1600" dirty="0"/>
          </a:p>
        </p:txBody>
      </p:sp>
      <p:sp>
        <p:nvSpPr>
          <p:cNvPr id="13" name="Text 9"/>
          <p:cNvSpPr txBox="1"/>
          <p:nvPr/>
        </p:nvSpPr>
        <p:spPr>
          <a:xfrm>
            <a:off x="7863840" y="3383280"/>
            <a:ext cx="1828800" cy="274320"/>
          </a:xfrm>
          <a:prstGeom prst="rect">
            <a:avLst/>
          </a:prstGeom>
          <a:noFill/>
          <a:ln/>
        </p:spPr>
        <p:txBody>
          <a:bodyPr wrap="square" lIns="0" tIns="0" rIns="0" bIns="0" rtlCol="0" anchor="t"/>
          <a:lstStyle/>
          <a:p>
            <a:pPr indent="0" marL="0">
              <a:buNone/>
            </a:pPr>
            <a:r>
              <a:rPr lang="en-US" sz="1200" b="1" spc="200" kern="0" dirty="0">
                <a:solidFill>
                  <a:srgbClr val="C9A46A"/>
                </a:solidFill>
                <a:latin typeface="Malgun Gothic" pitchFamily="34" charset="0"/>
                <a:ea typeface="Malgun Gothic" pitchFamily="34" charset="-122"/>
                <a:cs typeface="Malgun Gothic" pitchFamily="34" charset="-120"/>
              </a:rPr>
              <a:t>AFTER</a:t>
            </a:r>
            <a:endParaRPr lang="en-US" sz="1200" dirty="0"/>
          </a:p>
        </p:txBody>
      </p:sp>
      <p:sp>
        <p:nvSpPr>
          <p:cNvPr id="14" name="Text 10"/>
          <p:cNvSpPr txBox="1"/>
          <p:nvPr/>
        </p:nvSpPr>
        <p:spPr>
          <a:xfrm>
            <a:off x="7863840" y="3657600"/>
            <a:ext cx="3657600" cy="731520"/>
          </a:xfrm>
          <a:prstGeom prst="rect">
            <a:avLst/>
          </a:prstGeom>
          <a:noFill/>
          <a:ln/>
        </p:spPr>
        <p:txBody>
          <a:bodyPr wrap="square" lIns="0" tIns="0" rIns="0" bIns="0" rtlCol="0" anchor="ctr"/>
          <a:lstStyle/>
          <a:p>
            <a:pPr indent="0" marL="0">
              <a:buNone/>
            </a:pPr>
            <a:r>
              <a:rPr lang="en-US" sz="2100" b="1" dirty="0">
                <a:solidFill>
                  <a:srgbClr val="FFFFFF"/>
                </a:solidFill>
                <a:latin typeface="Malgun Gothic" pitchFamily="34" charset="0"/>
                <a:ea typeface="Malgun Gothic" pitchFamily="34" charset="-122"/>
                <a:cs typeface="Malgun Gothic" pitchFamily="34" charset="-120"/>
              </a:rPr>
              <a:t>문제를 확인하고</a:t>
            </a:r>
            <a:endParaRPr lang="en-US" sz="2100" dirty="0"/>
          </a:p>
          <a:p>
            <a:pPr indent="0" marL="0">
              <a:buNone/>
            </a:pPr>
            <a:r>
              <a:rPr lang="en-US" sz="2100" b="1" dirty="0">
                <a:solidFill>
                  <a:srgbClr val="FFFFFF"/>
                </a:solidFill>
                <a:latin typeface="Malgun Gothic" pitchFamily="34" charset="0"/>
                <a:ea typeface="Malgun Gothic" pitchFamily="34" charset="-122"/>
                <a:cs typeface="Malgun Gothic" pitchFamily="34" charset="-120"/>
              </a:rPr>
              <a:t>바로 할 일로 연결</a:t>
            </a:r>
            <a:endParaRPr lang="en-US" sz="2100" dirty="0"/>
          </a:p>
        </p:txBody>
      </p:sp>
      <p:sp>
        <p:nvSpPr>
          <p:cNvPr id="15" name="Text 11">
            <a:hlinkClick r:id="rId3" tooltip="https://tteokgiri-owner-os-demo.vercel.app"/>
          </p:cNvPr>
          <p:cNvSpPr txBox="1"/>
          <p:nvPr/>
        </p:nvSpPr>
        <p:spPr>
          <a:xfrm>
            <a:off x="7635240" y="4937760"/>
            <a:ext cx="2377440" cy="402336"/>
          </a:xfrm>
          <a:prstGeom prst="roundRect">
            <a:avLst>
              <a:gd name="adj" fmla="val 50000"/>
            </a:avLst>
          </a:prstGeom>
          <a:solidFill>
            <a:srgbClr val="103D3A"/>
          </a:solidFill>
          <a:ln/>
        </p:spPr>
        <p:txBody>
          <a:bodyPr wrap="square" lIns="0" tIns="0" rIns="0" bIns="0" rtlCol="0" anchor="ctr"/>
          <a:lstStyle/>
          <a:p>
            <a:pPr algn="ctr" indent="0" marL="0">
              <a:buNone/>
            </a:pPr>
            <a:r>
              <a:rPr lang="en-US" sz="1300" b="1" u="sng" dirty="0">
                <a:solidFill>
                  <a:srgbClr val="FFFFFF"/>
                </a:solidFill>
                <a:latin typeface="Malgun Gothic" pitchFamily="34" charset="0"/>
                <a:ea typeface="Malgun Gothic" pitchFamily="34" charset="-122"/>
                <a:cs typeface="Malgun Gothic" pitchFamily="34" charset="-120"/>
                <a:hlinkClick r:id="rId3" invalidUrl="" action="" tgtFrame="" tooltip="https://tteokgiri-owner-os-demo.vercel.app" history="1" highlightClick="0" endSnd="0">
                  <a:extLst>
                    <a:ext uri="{A12FA001-AC4F-418D-AE19-62706E023703}">
                      <ahyp:hlinkClr xmlns:ahyp="http://schemas.microsoft.com/office/drawing/2018/hyperlinkcolor" val="tx"/>
                    </a:ext>
                  </a:extLst>
                </a:hlinkClick>
              </a:rPr>
              <a:t>대표 OS 데모 열기</a:t>
            </a:r>
            <a:endParaRPr lang="en-US" sz="1300" dirty="0"/>
          </a:p>
        </p:txBody>
      </p:sp>
      <p:sp>
        <p:nvSpPr>
          <p:cNvPr id="16" name="Text 12">
            <a:hlinkClick r:id="rId4" tooltip="https://tteokgiri-owner-os-demo.vercel.app"/>
          </p:cNvPr>
          <p:cNvSpPr txBox="1"/>
          <p:nvPr/>
        </p:nvSpPr>
        <p:spPr>
          <a:xfrm>
            <a:off x="10085832" y="4937760"/>
            <a:ext cx="566928" cy="402336"/>
          </a:xfrm>
          <a:prstGeom prst="roundRect">
            <a:avLst>
              <a:gd name="adj" fmla="val 50000"/>
            </a:avLst>
          </a:prstGeom>
          <a:solidFill>
            <a:srgbClr val="0B2C29"/>
          </a:solidFill>
          <a:ln/>
        </p:spPr>
        <p:txBody>
          <a:bodyPr wrap="square" lIns="0" tIns="0" rIns="0" bIns="0" rtlCol="0" anchor="ctr"/>
          <a:lstStyle/>
          <a:p>
            <a:pPr algn="ctr" indent="0" marL="0">
              <a:buNone/>
            </a:pPr>
            <a:r>
              <a:rPr lang="en-US" sz="1500" b="1" u="sng" dirty="0">
                <a:solidFill>
                  <a:srgbClr val="FFFFFF"/>
                </a:solidFill>
                <a:latin typeface="Malgun Gothic" pitchFamily="34" charset="0"/>
                <a:ea typeface="Malgun Gothic" pitchFamily="34" charset="-122"/>
                <a:cs typeface="Malgun Gothic" pitchFamily="34" charset="-120"/>
                <a:hlinkClick r:id="rId4" invalidUrl="" action="" tgtFrame="" tooltip="https://tteokgiri-owner-os-demo.vercel.app" history="1" highlightClick="0" endSnd="0">
                  <a:extLst>
                    <a:ext uri="{A12FA001-AC4F-418D-AE19-62706E023703}">
                      <ahyp:hlinkClr xmlns:ahyp="http://schemas.microsoft.com/office/drawing/2018/hyperlinkcolor" val="tx"/>
                    </a:ext>
                  </a:extLst>
                </a:hlinkClick>
              </a:rPr>
              <a:t>→</a:t>
            </a:r>
            <a:endParaRPr lang="en-US" sz="1500" dirty="0"/>
          </a:p>
        </p:txBody>
      </p:sp>
      <p:sp>
        <p:nvSpPr>
          <p:cNvPr id="17" name="Text 13"/>
          <p:cNvSpPr txBox="1"/>
          <p:nvPr/>
        </p:nvSpPr>
        <p:spPr>
          <a:xfrm>
            <a:off x="7635240" y="5440680"/>
            <a:ext cx="4023360" cy="274320"/>
          </a:xfrm>
          <a:prstGeom prst="rect">
            <a:avLst/>
          </a:prstGeom>
          <a:noFill/>
          <a:ln/>
        </p:spPr>
        <p:txBody>
          <a:bodyPr wrap="square" lIns="0" tIns="0" rIns="0" bIns="0" rtlCol="0" anchor="t"/>
          <a:lstStyle/>
          <a:p>
            <a:pPr indent="0" marL="0">
              <a:buNone/>
            </a:pPr>
            <a:r>
              <a:rPr lang="en-US" sz="1200" dirty="0">
                <a:solidFill>
                  <a:srgbClr val="77746B"/>
                </a:solidFill>
                <a:latin typeface="Malgun Gothic" pitchFamily="34" charset="0"/>
                <a:ea typeface="Malgun Gothic" pitchFamily="34" charset="-122"/>
                <a:cs typeface="Malgun Gothic" pitchFamily="34" charset="-120"/>
              </a:rPr>
              <a:t>tteokgiri-owner-os-demo.vercel.app</a:t>
            </a:r>
            <a:endParaRPr lang="en-US" sz="1200" dirty="0"/>
          </a:p>
        </p:txBody>
      </p:sp>
      <p:sp>
        <p:nvSpPr>
          <p:cNvPr id="18" name="Shape 14"/>
          <p:cNvSpPr/>
          <p:nvPr/>
        </p:nvSpPr>
        <p:spPr>
          <a:xfrm>
            <a:off x="7635240" y="6400800"/>
            <a:ext cx="1188720" cy="41148"/>
          </a:xfrm>
          <a:prstGeom prst="rect">
            <a:avLst/>
          </a:prstGeom>
          <a:solidFill>
            <a:srgbClr val="103D3A"/>
          </a:solidFill>
          <a:ln/>
        </p:spPr>
      </p:sp>
      <p:sp>
        <p:nvSpPr>
          <p:cNvPr id="19" name="Shape 15"/>
          <p:cNvSpPr/>
          <p:nvPr/>
        </p:nvSpPr>
        <p:spPr>
          <a:xfrm>
            <a:off x="8823960" y="6420917"/>
            <a:ext cx="2834640" cy="0"/>
          </a:xfrm>
          <a:prstGeom prst="line">
            <a:avLst/>
          </a:prstGeom>
          <a:noFill/>
          <a:ln w="9525">
            <a:solidFill>
              <a:srgbClr val="D9D3C5"/>
            </a:solidFill>
            <a:prstDash val="solid"/>
          </a:ln>
        </p:spPr>
      </p:sp>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640080"/>
            <a:ext cx="6400800" cy="320040"/>
          </a:xfrm>
          <a:prstGeom prst="rect">
            <a:avLst/>
          </a:prstGeom>
          <a:noFill/>
          <a:ln/>
        </p:spPr>
        <p:txBody>
          <a:bodyPr wrap="square" lIns="0" tIns="0" rIns="0" bIns="0" rtlCol="0" anchor="t"/>
          <a:lstStyle/>
          <a:p>
            <a:pPr indent="0" marL="0">
              <a:buNone/>
            </a:pPr>
            <a:r>
              <a:rPr lang="en-US" sz="1400" b="1" spc="100" kern="0" dirty="0">
                <a:solidFill>
                  <a:srgbClr val="C9A46A"/>
                </a:solidFill>
                <a:latin typeface="Malgun Gothic" pitchFamily="34" charset="0"/>
                <a:ea typeface="Malgun Gothic" pitchFamily="34" charset="-122"/>
                <a:cs typeface="Malgun Gothic" pitchFamily="34" charset="-120"/>
              </a:rPr>
              <a:t>상품 마스터 · 가격·수익성 계산기</a:t>
            </a:r>
            <a:endParaRPr lang="en-US" sz="1400" dirty="0"/>
          </a:p>
        </p:txBody>
      </p:sp>
      <p:sp>
        <p:nvSpPr>
          <p:cNvPr id="3" name="Text 1"/>
          <p:cNvSpPr txBox="1"/>
          <p:nvPr/>
        </p:nvSpPr>
        <p:spPr>
          <a:xfrm>
            <a:off x="685800" y="1005840"/>
            <a:ext cx="5669280" cy="1554480"/>
          </a:xfrm>
          <a:prstGeom prst="rect">
            <a:avLst/>
          </a:prstGeom>
          <a:noFill/>
          <a:ln/>
        </p:spPr>
        <p:txBody>
          <a:bodyPr wrap="square" lIns="0" tIns="0" rIns="0" bIns="0" rtlCol="0" anchor="t"/>
          <a:lstStyle/>
          <a:p>
            <a:pPr indent="0" marL="0">
              <a:lnSpc>
                <a:spcPct val="105000"/>
              </a:lnSpc>
              <a:buNone/>
            </a:pPr>
            <a:r>
              <a:rPr lang="en-US" sz="3800" b="1" dirty="0">
                <a:solidFill>
                  <a:srgbClr val="17221F"/>
                </a:solidFill>
                <a:latin typeface="Malgun Gothic" pitchFamily="34" charset="0"/>
                <a:ea typeface="Malgun Gothic" pitchFamily="34" charset="-122"/>
                <a:cs typeface="Malgun Gothic" pitchFamily="34" charset="-120"/>
              </a:rPr>
              <a:t>상품 하나를 팔면,</a:t>
            </a:r>
            <a:endParaRPr lang="en-US" sz="3800" dirty="0"/>
          </a:p>
          <a:p>
            <a:pPr indent="0" marL="0">
              <a:lnSpc>
                <a:spcPct val="105000"/>
              </a:lnSpc>
              <a:buNone/>
            </a:pPr>
            <a:r>
              <a:rPr lang="en-US" sz="3800" b="1" dirty="0">
                <a:solidFill>
                  <a:srgbClr val="17221F"/>
                </a:solidFill>
                <a:latin typeface="Malgun Gothic" pitchFamily="34" charset="0"/>
                <a:ea typeface="Malgun Gothic" pitchFamily="34" charset="-122"/>
                <a:cs typeface="Malgun Gothic" pitchFamily="34" charset="-120"/>
              </a:rPr>
              <a:t>얼마가 남을까?</a:t>
            </a:r>
            <a:endParaRPr lang="en-US" sz="3800" dirty="0"/>
          </a:p>
        </p:txBody>
      </p:sp>
      <p:sp>
        <p:nvSpPr>
          <p:cNvPr id="4" name="Text 2"/>
          <p:cNvSpPr txBox="1"/>
          <p:nvPr/>
        </p:nvSpPr>
        <p:spPr>
          <a:xfrm>
            <a:off x="685800" y="2743200"/>
            <a:ext cx="5669280" cy="411480"/>
          </a:xfrm>
          <a:prstGeom prst="rect">
            <a:avLst/>
          </a:prstGeom>
          <a:noFill/>
          <a:ln/>
        </p:spPr>
        <p:txBody>
          <a:bodyPr wrap="square" lIns="0" tIns="0" rIns="0" bIns="0" rtlCol="0" anchor="t"/>
          <a:lstStyle/>
          <a:p>
            <a:pPr indent="0" marL="0">
              <a:buNone/>
            </a:pPr>
            <a:r>
              <a:rPr lang="en-US" sz="1700" dirty="0">
                <a:solidFill>
                  <a:srgbClr val="77746B"/>
                </a:solidFill>
                <a:latin typeface="Malgun Gothic" pitchFamily="34" charset="0"/>
                <a:ea typeface="Malgun Gothic" pitchFamily="34" charset="-122"/>
                <a:cs typeface="Malgun Gothic" pitchFamily="34" charset="-120"/>
              </a:rPr>
              <a:t>원가 · 판매가 · 수수료 · 폐기까지 넣고 계산</a:t>
            </a:r>
            <a:endParaRPr lang="en-US" sz="1700" dirty="0"/>
          </a:p>
        </p:txBody>
      </p:sp>
      <p:sp>
        <p:nvSpPr>
          <p:cNvPr id="5" name="Shape 3"/>
          <p:cNvSpPr/>
          <p:nvPr/>
        </p:nvSpPr>
        <p:spPr>
          <a:xfrm>
            <a:off x="640080" y="3291840"/>
            <a:ext cx="3886200" cy="2981028"/>
          </a:xfrm>
          <a:prstGeom prst="rect">
            <a:avLst/>
          </a:prstGeom>
          <a:solidFill>
            <a:srgbClr val="FFFFFF"/>
          </a:solidFill>
          <a:ln w="9525">
            <a:solidFill>
              <a:srgbClr val="D9D3C5"/>
            </a:solidFill>
            <a:prstDash val="solid"/>
          </a:ln>
          <a:effectLst>
            <a:outerShdw sx="100000" sy="100000" kx="0" ky="0" algn="bl" rotWithShape="0" blurRad="127000" dist="50800" dir="5400000">
              <a:srgbClr val="000000">
                <a:alpha val="12000"/>
              </a:srgbClr>
            </a:outerShdw>
          </a:effectLst>
        </p:spPr>
      </p:sp>
      <p:pic>
        <p:nvPicPr>
          <p:cNvPr id="6" name="Image 0" descr="떡기리 발표 이미지">    </p:cNvPr>
          <p:cNvPicPr>
            <a:picLocks noChangeAspect="1"/>
          </p:cNvPicPr>
          <p:nvPr/>
        </p:nvPicPr>
        <p:blipFill>
          <a:blip r:embed="rId1"/>
          <a:stretch>
            <a:fillRect/>
          </a:stretch>
        </p:blipFill>
        <p:spPr>
          <a:xfrm>
            <a:off x="685800" y="3337560"/>
            <a:ext cx="3794760" cy="2889588"/>
          </a:xfrm>
          <a:prstGeom prst="rect">
            <a:avLst/>
          </a:prstGeom>
        </p:spPr>
      </p:pic>
      <p:sp>
        <p:nvSpPr>
          <p:cNvPr id="7" name="Text 4"/>
          <p:cNvSpPr txBox="1"/>
          <p:nvPr/>
        </p:nvSpPr>
        <p:spPr>
          <a:xfrm>
            <a:off x="4617720" y="5852160"/>
            <a:ext cx="2011680" cy="274320"/>
          </a:xfrm>
          <a:prstGeom prst="roundRect">
            <a:avLst>
              <a:gd name="adj" fmla="val 50000"/>
            </a:avLst>
          </a:prstGeom>
          <a:solidFill>
            <a:srgbClr val="EFE2C8"/>
          </a:solidFill>
          <a:ln/>
        </p:spPr>
        <p:txBody>
          <a:bodyPr wrap="square" lIns="0" tIns="0" rIns="0" bIns="0" rtlCol="0" anchor="ctr"/>
          <a:lstStyle/>
          <a:p>
            <a:pPr algn="ctr" indent="0" marL="0">
              <a:buNone/>
            </a:pPr>
            <a:r>
              <a:rPr lang="en-US" sz="1050" b="1" dirty="0">
                <a:solidFill>
                  <a:srgbClr val="17221F"/>
                </a:solidFill>
                <a:latin typeface="Malgun Gothic" pitchFamily="34" charset="0"/>
                <a:ea typeface="Malgun Gothic" pitchFamily="34" charset="-122"/>
                <a:cs typeface="Malgun Gothic" pitchFamily="34" charset="-120"/>
              </a:rPr>
              <a:t>계산 결과 · 예시 숫자</a:t>
            </a:r>
            <a:endParaRPr lang="en-US" sz="1050" dirty="0"/>
          </a:p>
        </p:txBody>
      </p:sp>
      <p:sp>
        <p:nvSpPr>
          <p:cNvPr id="8" name="Shape 5"/>
          <p:cNvSpPr/>
          <p:nvPr/>
        </p:nvSpPr>
        <p:spPr>
          <a:xfrm>
            <a:off x="6903720" y="457200"/>
            <a:ext cx="4525401" cy="5715000"/>
          </a:xfrm>
          <a:prstGeom prst="rect">
            <a:avLst/>
          </a:prstGeom>
          <a:solidFill>
            <a:srgbClr val="FFFFFF"/>
          </a:solidFill>
          <a:ln w="9525">
            <a:solidFill>
              <a:srgbClr val="D9D3C5"/>
            </a:solidFill>
            <a:prstDash val="solid"/>
          </a:ln>
          <a:effectLst>
            <a:outerShdw sx="100000" sy="100000" kx="0" ky="0" algn="bl" rotWithShape="0" blurRad="127000" dist="50800" dir="5400000">
              <a:srgbClr val="000000">
                <a:alpha val="12000"/>
              </a:srgbClr>
            </a:outerShdw>
          </a:effectLst>
        </p:spPr>
      </p:sp>
      <p:pic>
        <p:nvPicPr>
          <p:cNvPr id="9" name="Image 1" descr="떡기리 프로그램 화면">    </p:cNvPr>
          <p:cNvPicPr>
            <a:picLocks noChangeAspect="1"/>
          </p:cNvPicPr>
          <p:nvPr/>
        </p:nvPicPr>
        <p:blipFill>
          <a:blip r:embed="rId2"/>
          <a:stretch>
            <a:fillRect/>
          </a:stretch>
        </p:blipFill>
        <p:spPr>
          <a:xfrm>
            <a:off x="6949440" y="502920"/>
            <a:ext cx="4433961" cy="5623560"/>
          </a:xfrm>
          <a:prstGeom prst="rect">
            <a:avLst/>
          </a:prstGeom>
        </p:spPr>
      </p:pic>
      <p:sp>
        <p:nvSpPr>
          <p:cNvPr id="10" name="Text 6"/>
          <p:cNvSpPr txBox="1"/>
          <p:nvPr/>
        </p:nvSpPr>
        <p:spPr>
          <a:xfrm>
            <a:off x="8343460" y="6236208"/>
            <a:ext cx="1645920" cy="274320"/>
          </a:xfrm>
          <a:prstGeom prst="roundRect">
            <a:avLst>
              <a:gd name="adj" fmla="val 50000"/>
            </a:avLst>
          </a:prstGeom>
          <a:solidFill>
            <a:srgbClr val="EFE2C8"/>
          </a:solidFill>
          <a:ln/>
        </p:spPr>
        <p:txBody>
          <a:bodyPr wrap="square" lIns="0" tIns="0" rIns="0" bIns="0" rtlCol="0" anchor="ctr"/>
          <a:lstStyle/>
          <a:p>
            <a:pPr algn="ctr" indent="0" marL="0">
              <a:buNone/>
            </a:pPr>
            <a:r>
              <a:rPr lang="en-US" sz="1050" b="1" dirty="0">
                <a:solidFill>
                  <a:srgbClr val="17221F"/>
                </a:solidFill>
                <a:latin typeface="Malgun Gothic" pitchFamily="34" charset="0"/>
                <a:ea typeface="Malgun Gothic" pitchFamily="34" charset="-122"/>
                <a:cs typeface="Malgun Gothic" pitchFamily="34" charset="-120"/>
              </a:rPr>
              <a:t>상품 마스터 · 데모</a:t>
            </a:r>
            <a:endParaRPr lang="en-US" sz="1050" dirty="0"/>
          </a:p>
        </p:txBody>
      </p:sp>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640080"/>
            <a:ext cx="4572000" cy="320040"/>
          </a:xfrm>
          <a:prstGeom prst="rect">
            <a:avLst/>
          </a:prstGeom>
          <a:noFill/>
          <a:ln/>
        </p:spPr>
        <p:txBody>
          <a:bodyPr wrap="square" lIns="0" tIns="0" rIns="0" bIns="0" rtlCol="0" anchor="t"/>
          <a:lstStyle/>
          <a:p>
            <a:pPr indent="0" marL="0">
              <a:buNone/>
            </a:pPr>
            <a:r>
              <a:rPr lang="en-US" sz="1400" b="1" spc="100" kern="0" dirty="0">
                <a:solidFill>
                  <a:srgbClr val="C9A46A"/>
                </a:solidFill>
                <a:latin typeface="Malgun Gothic" pitchFamily="34" charset="0"/>
                <a:ea typeface="Malgun Gothic" pitchFamily="34" charset="-122"/>
                <a:cs typeface="Malgun Gothic" pitchFamily="34" charset="-120"/>
              </a:rPr>
              <a:t>입점 타당성 계산기</a:t>
            </a:r>
            <a:endParaRPr lang="en-US" sz="1400" dirty="0"/>
          </a:p>
        </p:txBody>
      </p:sp>
      <p:sp>
        <p:nvSpPr>
          <p:cNvPr id="3" name="Text 1"/>
          <p:cNvSpPr txBox="1"/>
          <p:nvPr/>
        </p:nvSpPr>
        <p:spPr>
          <a:xfrm>
            <a:off x="685800" y="1005840"/>
            <a:ext cx="4206240" cy="1463040"/>
          </a:xfrm>
          <a:prstGeom prst="rect">
            <a:avLst/>
          </a:prstGeom>
          <a:noFill/>
          <a:ln/>
        </p:spPr>
        <p:txBody>
          <a:bodyPr wrap="square" lIns="0" tIns="0" rIns="0" bIns="0" rtlCol="0" anchor="t"/>
          <a:lstStyle/>
          <a:p>
            <a:pPr indent="0" marL="0">
              <a:lnSpc>
                <a:spcPct val="105000"/>
              </a:lnSpc>
              <a:buNone/>
            </a:pPr>
            <a:r>
              <a:rPr lang="en-US" sz="3200" b="1" dirty="0">
                <a:solidFill>
                  <a:srgbClr val="17221F"/>
                </a:solidFill>
                <a:latin typeface="Malgun Gothic" pitchFamily="34" charset="0"/>
                <a:ea typeface="Malgun Gothic" pitchFamily="34" charset="-122"/>
                <a:cs typeface="Malgun Gothic" pitchFamily="34" charset="-120"/>
              </a:rPr>
              <a:t>공항·백화점 입점,</a:t>
            </a:r>
            <a:endParaRPr lang="en-US" sz="3200" dirty="0"/>
          </a:p>
          <a:p>
            <a:pPr indent="0" marL="0">
              <a:lnSpc>
                <a:spcPct val="105000"/>
              </a:lnSpc>
              <a:buNone/>
            </a:pPr>
            <a:r>
              <a:rPr lang="en-US" sz="3200" b="1" dirty="0">
                <a:solidFill>
                  <a:srgbClr val="17221F"/>
                </a:solidFill>
                <a:latin typeface="Malgun Gothic" pitchFamily="34" charset="0"/>
                <a:ea typeface="Malgun Gothic" pitchFamily="34" charset="-122"/>
                <a:cs typeface="Malgun Gothic" pitchFamily="34" charset="-120"/>
              </a:rPr>
              <a:t>감이 아니라 숫자로</a:t>
            </a:r>
            <a:endParaRPr lang="en-US" sz="3200" dirty="0"/>
          </a:p>
        </p:txBody>
      </p:sp>
      <p:sp>
        <p:nvSpPr>
          <p:cNvPr id="4" name="Text 2"/>
          <p:cNvSpPr txBox="1"/>
          <p:nvPr/>
        </p:nvSpPr>
        <p:spPr>
          <a:xfrm>
            <a:off x="685800" y="2798064"/>
            <a:ext cx="411480" cy="411480"/>
          </a:xfrm>
          <a:prstGeom prst="ellipse">
            <a:avLst/>
          </a:prstGeom>
          <a:solidFill>
            <a:srgbClr val="103D3A"/>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5" name="Text 3"/>
          <p:cNvSpPr txBox="1"/>
          <p:nvPr/>
        </p:nvSpPr>
        <p:spPr>
          <a:xfrm>
            <a:off x="1234440" y="2743200"/>
            <a:ext cx="3657600" cy="512064"/>
          </a:xfrm>
          <a:prstGeom prst="rect">
            <a:avLst/>
          </a:prstGeom>
          <a:noFill/>
          <a:ln/>
        </p:spPr>
        <p:txBody>
          <a:bodyPr wrap="square" lIns="0" tIns="0" rIns="0" bIns="0" rtlCol="0" anchor="ctr"/>
          <a:lstStyle/>
          <a:p>
            <a:pPr indent="0" marL="0">
              <a:buNone/>
            </a:pPr>
            <a:r>
              <a:rPr lang="en-US" sz="1800" b="1" dirty="0">
                <a:solidFill>
                  <a:srgbClr val="17221F"/>
                </a:solidFill>
                <a:latin typeface="Malgun Gothic" pitchFamily="34" charset="0"/>
                <a:ea typeface="Malgun Gothic" pitchFamily="34" charset="-122"/>
                <a:cs typeface="Malgun Gothic" pitchFamily="34" charset="-120"/>
              </a:rPr>
              <a:t>수수료를 빼도 남을까?</a:t>
            </a:r>
            <a:endParaRPr lang="en-US" sz="1800" dirty="0"/>
          </a:p>
        </p:txBody>
      </p:sp>
      <p:sp>
        <p:nvSpPr>
          <p:cNvPr id="6" name="Text 4"/>
          <p:cNvSpPr txBox="1"/>
          <p:nvPr/>
        </p:nvSpPr>
        <p:spPr>
          <a:xfrm>
            <a:off x="685800" y="3438144"/>
            <a:ext cx="411480" cy="411480"/>
          </a:xfrm>
          <a:prstGeom prst="ellipse">
            <a:avLst/>
          </a:prstGeom>
          <a:solidFill>
            <a:srgbClr val="103D3A"/>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7" name="Text 5"/>
          <p:cNvSpPr txBox="1"/>
          <p:nvPr/>
        </p:nvSpPr>
        <p:spPr>
          <a:xfrm>
            <a:off x="1234440" y="3383280"/>
            <a:ext cx="3657600" cy="512064"/>
          </a:xfrm>
          <a:prstGeom prst="rect">
            <a:avLst/>
          </a:prstGeom>
          <a:noFill/>
          <a:ln/>
        </p:spPr>
        <p:txBody>
          <a:bodyPr wrap="square" lIns="0" tIns="0" rIns="0" bIns="0" rtlCol="0" anchor="ctr"/>
          <a:lstStyle/>
          <a:p>
            <a:pPr indent="0" marL="0">
              <a:buNone/>
            </a:pPr>
            <a:r>
              <a:rPr lang="en-US" sz="1800" b="1" dirty="0">
                <a:solidFill>
                  <a:srgbClr val="17221F"/>
                </a:solidFill>
                <a:latin typeface="Malgun Gothic" pitchFamily="34" charset="0"/>
                <a:ea typeface="Malgun Gothic" pitchFamily="34" charset="-122"/>
                <a:cs typeface="Malgun Gothic" pitchFamily="34" charset="-120"/>
              </a:rPr>
              <a:t>손익분기점은 얼마?</a:t>
            </a:r>
            <a:endParaRPr lang="en-US" sz="1800" dirty="0"/>
          </a:p>
        </p:txBody>
      </p:sp>
      <p:sp>
        <p:nvSpPr>
          <p:cNvPr id="8" name="Text 6"/>
          <p:cNvSpPr txBox="1"/>
          <p:nvPr/>
        </p:nvSpPr>
        <p:spPr>
          <a:xfrm>
            <a:off x="685800" y="4078224"/>
            <a:ext cx="411480" cy="411480"/>
          </a:xfrm>
          <a:prstGeom prst="ellipse">
            <a:avLst/>
          </a:prstGeom>
          <a:solidFill>
            <a:srgbClr val="103D3A"/>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9" name="Text 7"/>
          <p:cNvSpPr txBox="1"/>
          <p:nvPr/>
        </p:nvSpPr>
        <p:spPr>
          <a:xfrm>
            <a:off x="1234440" y="4023360"/>
            <a:ext cx="3657600" cy="512064"/>
          </a:xfrm>
          <a:prstGeom prst="rect">
            <a:avLst/>
          </a:prstGeom>
          <a:noFill/>
          <a:ln/>
        </p:spPr>
        <p:txBody>
          <a:bodyPr wrap="square" lIns="0" tIns="0" rIns="0" bIns="0" rtlCol="0" anchor="ctr"/>
          <a:lstStyle/>
          <a:p>
            <a:pPr indent="0" marL="0">
              <a:buNone/>
            </a:pPr>
            <a:r>
              <a:rPr lang="en-US" sz="1800" b="1" dirty="0">
                <a:solidFill>
                  <a:srgbClr val="17221F"/>
                </a:solidFill>
                <a:latin typeface="Malgun Gothic" pitchFamily="34" charset="0"/>
                <a:ea typeface="Malgun Gothic" pitchFamily="34" charset="-122"/>
                <a:cs typeface="Malgun Gothic" pitchFamily="34" charset="-120"/>
              </a:rPr>
              <a:t>임대료·수수료는 어디까지?</a:t>
            </a:r>
            <a:endParaRPr lang="en-US" sz="1800" dirty="0"/>
          </a:p>
        </p:txBody>
      </p:sp>
      <p:sp>
        <p:nvSpPr>
          <p:cNvPr id="10" name="Text 8">
            <a:hlinkClick r:id="rId1" tooltip="https://tteokgiri-owner-os-demo.vercel.app/#/entry"/>
          </p:cNvPr>
          <p:cNvSpPr txBox="1"/>
          <p:nvPr/>
        </p:nvSpPr>
        <p:spPr>
          <a:xfrm>
            <a:off x="685800" y="4846320"/>
            <a:ext cx="2194560" cy="402336"/>
          </a:xfrm>
          <a:prstGeom prst="roundRect">
            <a:avLst>
              <a:gd name="adj" fmla="val 50000"/>
            </a:avLst>
          </a:prstGeom>
          <a:solidFill>
            <a:srgbClr val="103D3A"/>
          </a:solidFill>
          <a:ln/>
        </p:spPr>
        <p:txBody>
          <a:bodyPr wrap="square" lIns="0" tIns="0" rIns="0" bIns="0" rtlCol="0" anchor="ctr"/>
          <a:lstStyle/>
          <a:p>
            <a:pPr algn="ctr" indent="0" marL="0">
              <a:buNone/>
            </a:pPr>
            <a:r>
              <a:rPr lang="en-US" sz="1300" b="1" u="sng" dirty="0">
                <a:solidFill>
                  <a:srgbClr val="FFFFFF"/>
                </a:solidFill>
                <a:latin typeface="Malgun Gothic" pitchFamily="34" charset="0"/>
                <a:ea typeface="Malgun Gothic" pitchFamily="34" charset="-122"/>
                <a:cs typeface="Malgun Gothic" pitchFamily="34" charset="-120"/>
                <a:hlinkClick r:id="rId1" invalidUrl="" action="" tgtFrame="" tooltip="https://tteokgiri-owner-os-demo.vercel.app/#/entry" history="1" highlightClick="0" endSnd="0">
                  <a:extLst>
                    <a:ext uri="{A12FA001-AC4F-418D-AE19-62706E023703}">
                      <ahyp:hlinkClr xmlns:ahyp="http://schemas.microsoft.com/office/drawing/2018/hyperlinkcolor" val="tx"/>
                    </a:ext>
                  </a:extLst>
                </a:hlinkClick>
              </a:rPr>
              <a:t>입점 계산기 열기</a:t>
            </a:r>
            <a:endParaRPr lang="en-US" sz="1300" dirty="0"/>
          </a:p>
        </p:txBody>
      </p:sp>
      <p:sp>
        <p:nvSpPr>
          <p:cNvPr id="11" name="Text 9">
            <a:hlinkClick r:id="rId2" tooltip="https://tteokgiri-owner-os-demo.vercel.app/#/entry"/>
          </p:cNvPr>
          <p:cNvSpPr txBox="1"/>
          <p:nvPr/>
        </p:nvSpPr>
        <p:spPr>
          <a:xfrm>
            <a:off x="2953512" y="4846320"/>
            <a:ext cx="566928" cy="402336"/>
          </a:xfrm>
          <a:prstGeom prst="roundRect">
            <a:avLst>
              <a:gd name="adj" fmla="val 50000"/>
            </a:avLst>
          </a:prstGeom>
          <a:solidFill>
            <a:srgbClr val="0B2C29"/>
          </a:solidFill>
          <a:ln/>
        </p:spPr>
        <p:txBody>
          <a:bodyPr wrap="square" lIns="0" tIns="0" rIns="0" bIns="0" rtlCol="0" anchor="ctr"/>
          <a:lstStyle/>
          <a:p>
            <a:pPr algn="ctr" indent="0" marL="0">
              <a:buNone/>
            </a:pPr>
            <a:r>
              <a:rPr lang="en-US" sz="1500" b="1" u="sng" dirty="0">
                <a:solidFill>
                  <a:srgbClr val="FFFFFF"/>
                </a:solidFill>
                <a:latin typeface="Malgun Gothic" pitchFamily="34" charset="0"/>
                <a:ea typeface="Malgun Gothic" pitchFamily="34" charset="-122"/>
                <a:cs typeface="Malgun Gothic" pitchFamily="34" charset="-120"/>
                <a:hlinkClick r:id="rId2" invalidUrl="" action="" tgtFrame="" tooltip="https://tteokgiri-owner-os-demo.vercel.app/#/entry" history="1" highlightClick="0" endSnd="0">
                  <a:extLst>
                    <a:ext uri="{A12FA001-AC4F-418D-AE19-62706E023703}">
                      <ahyp:hlinkClr xmlns:ahyp="http://schemas.microsoft.com/office/drawing/2018/hyperlinkcolor" val="tx"/>
                    </a:ext>
                  </a:extLst>
                </a:hlinkClick>
              </a:rPr>
              <a:t>→</a:t>
            </a:r>
            <a:endParaRPr lang="en-US" sz="1500" dirty="0"/>
          </a:p>
        </p:txBody>
      </p:sp>
      <p:sp>
        <p:nvSpPr>
          <p:cNvPr id="12" name="Shape 10"/>
          <p:cNvSpPr/>
          <p:nvPr/>
        </p:nvSpPr>
        <p:spPr>
          <a:xfrm>
            <a:off x="4937760" y="502920"/>
            <a:ext cx="3476195" cy="3977640"/>
          </a:xfrm>
          <a:prstGeom prst="rect">
            <a:avLst/>
          </a:prstGeom>
          <a:solidFill>
            <a:srgbClr val="FFFFFF"/>
          </a:solidFill>
          <a:ln w="9525">
            <a:solidFill>
              <a:srgbClr val="D9D3C5"/>
            </a:solidFill>
            <a:prstDash val="solid"/>
          </a:ln>
          <a:effectLst>
            <a:outerShdw sx="100000" sy="100000" kx="0" ky="0" algn="bl" rotWithShape="0" blurRad="127000" dist="50800" dir="5400000">
              <a:srgbClr val="000000">
                <a:alpha val="12000"/>
              </a:srgbClr>
            </a:outerShdw>
          </a:effectLst>
        </p:spPr>
      </p:sp>
      <p:pic>
        <p:nvPicPr>
          <p:cNvPr id="13" name="Image 0" descr="떡기리 프로그램 화면">    </p:cNvPr>
          <p:cNvPicPr>
            <a:picLocks noChangeAspect="1"/>
          </p:cNvPicPr>
          <p:nvPr/>
        </p:nvPicPr>
        <p:blipFill>
          <a:blip r:embed="rId3"/>
          <a:stretch>
            <a:fillRect/>
          </a:stretch>
        </p:blipFill>
        <p:spPr>
          <a:xfrm>
            <a:off x="4983480" y="548640"/>
            <a:ext cx="3384755" cy="3886200"/>
          </a:xfrm>
          <a:prstGeom prst="rect">
            <a:avLst/>
          </a:prstGeom>
        </p:spPr>
      </p:pic>
      <p:sp>
        <p:nvSpPr>
          <p:cNvPr id="14" name="Text 11"/>
          <p:cNvSpPr txBox="1"/>
          <p:nvPr/>
        </p:nvSpPr>
        <p:spPr>
          <a:xfrm>
            <a:off x="4983480" y="4553712"/>
            <a:ext cx="3384755" cy="320040"/>
          </a:xfrm>
          <a:prstGeom prst="rect">
            <a:avLst/>
          </a:prstGeom>
          <a:noFill/>
          <a:ln/>
        </p:spPr>
        <p:txBody>
          <a:bodyPr wrap="square" lIns="0" tIns="0" rIns="0" bIns="0" rtlCol="0" anchor="t"/>
          <a:lstStyle/>
          <a:p>
            <a:pPr algn="ctr" indent="0" marL="0">
              <a:buNone/>
            </a:pPr>
            <a:r>
              <a:rPr lang="en-US" sz="1250" b="1" dirty="0">
                <a:solidFill>
                  <a:srgbClr val="103D3A"/>
                </a:solidFill>
                <a:latin typeface="Malgun Gothic" pitchFamily="34" charset="0"/>
                <a:ea typeface="Malgun Gothic" pitchFamily="34" charset="-122"/>
                <a:cs typeface="Malgun Gothic" pitchFamily="34" charset="-120"/>
              </a:rPr>
              <a:t>입력 — 매출 · 수수료 · 임대료 · 인건비</a:t>
            </a:r>
            <a:endParaRPr lang="en-US" sz="1250" dirty="0"/>
          </a:p>
        </p:txBody>
      </p:sp>
      <p:sp>
        <p:nvSpPr>
          <p:cNvPr id="15" name="Shape 12"/>
          <p:cNvSpPr/>
          <p:nvPr/>
        </p:nvSpPr>
        <p:spPr>
          <a:xfrm>
            <a:off x="8458200" y="502920"/>
            <a:ext cx="3403537" cy="5074920"/>
          </a:xfrm>
          <a:prstGeom prst="rect">
            <a:avLst/>
          </a:prstGeom>
          <a:solidFill>
            <a:srgbClr val="FFFFFF"/>
          </a:solidFill>
          <a:ln w="9525">
            <a:solidFill>
              <a:srgbClr val="D9D3C5"/>
            </a:solidFill>
            <a:prstDash val="solid"/>
          </a:ln>
          <a:effectLst>
            <a:outerShdw sx="100000" sy="100000" kx="0" ky="0" algn="bl" rotWithShape="0" blurRad="127000" dist="50800" dir="5400000">
              <a:srgbClr val="000000">
                <a:alpha val="12000"/>
              </a:srgbClr>
            </a:outerShdw>
          </a:effectLst>
        </p:spPr>
      </p:sp>
      <p:pic>
        <p:nvPicPr>
          <p:cNvPr id="16" name="Image 1" descr="떡기리 프로그램 화면">    </p:cNvPr>
          <p:cNvPicPr>
            <a:picLocks noChangeAspect="1"/>
          </p:cNvPicPr>
          <p:nvPr/>
        </p:nvPicPr>
        <p:blipFill>
          <a:blip r:embed="rId4"/>
          <a:stretch>
            <a:fillRect/>
          </a:stretch>
        </p:blipFill>
        <p:spPr>
          <a:xfrm>
            <a:off x="8503920" y="548640"/>
            <a:ext cx="3312097" cy="4983480"/>
          </a:xfrm>
          <a:prstGeom prst="rect">
            <a:avLst/>
          </a:prstGeom>
        </p:spPr>
      </p:pic>
      <p:sp>
        <p:nvSpPr>
          <p:cNvPr id="17" name="Text 13"/>
          <p:cNvSpPr txBox="1"/>
          <p:nvPr/>
        </p:nvSpPr>
        <p:spPr>
          <a:xfrm>
            <a:off x="8503920" y="5605272"/>
            <a:ext cx="3312097" cy="320040"/>
          </a:xfrm>
          <a:prstGeom prst="rect">
            <a:avLst/>
          </a:prstGeom>
          <a:noFill/>
          <a:ln/>
        </p:spPr>
        <p:txBody>
          <a:bodyPr wrap="square" lIns="0" tIns="0" rIns="0" bIns="0" rtlCol="0" anchor="t"/>
          <a:lstStyle/>
          <a:p>
            <a:pPr algn="ctr" indent="0" marL="0">
              <a:buNone/>
            </a:pPr>
            <a:r>
              <a:rPr lang="en-US" sz="1250" b="1" dirty="0">
                <a:solidFill>
                  <a:srgbClr val="103D3A"/>
                </a:solidFill>
                <a:latin typeface="Malgun Gothic" pitchFamily="34" charset="0"/>
                <a:ea typeface="Malgun Gothic" pitchFamily="34" charset="-122"/>
                <a:cs typeface="Malgun Gothic" pitchFamily="34" charset="-120"/>
              </a:rPr>
              <a:t>결과 — 손익분기 · 계약 가능 조건</a:t>
            </a:r>
            <a:endParaRPr lang="en-US" sz="1250" dirty="0"/>
          </a:p>
        </p:txBody>
      </p:sp>
      <p:sp>
        <p:nvSpPr>
          <p:cNvPr id="18" name="Shape 14"/>
          <p:cNvSpPr/>
          <p:nvPr/>
        </p:nvSpPr>
        <p:spPr>
          <a:xfrm>
            <a:off x="4983480" y="5074920"/>
            <a:ext cx="3384755" cy="960120"/>
          </a:xfrm>
          <a:prstGeom prst="roundRect">
            <a:avLst>
              <a:gd name="adj" fmla="val 47619"/>
            </a:avLst>
          </a:prstGeom>
          <a:solidFill>
            <a:srgbClr val="EFE2C8"/>
          </a:solidFill>
          <a:ln/>
        </p:spPr>
      </p:sp>
      <p:sp>
        <p:nvSpPr>
          <p:cNvPr id="19" name="Text 15"/>
          <p:cNvSpPr txBox="1"/>
          <p:nvPr/>
        </p:nvSpPr>
        <p:spPr>
          <a:xfrm>
            <a:off x="4983480" y="5138928"/>
            <a:ext cx="3384755" cy="274320"/>
          </a:xfrm>
          <a:prstGeom prst="rect">
            <a:avLst/>
          </a:prstGeom>
          <a:noFill/>
          <a:ln/>
        </p:spPr>
        <p:txBody>
          <a:bodyPr wrap="square" lIns="0" tIns="0" rIns="0" bIns="0" rtlCol="0" anchor="t"/>
          <a:lstStyle/>
          <a:p>
            <a:pPr algn="ctr" indent="0" marL="0">
              <a:buNone/>
            </a:pPr>
            <a:r>
              <a:rPr lang="en-US" sz="1150" b="1" dirty="0">
                <a:solidFill>
                  <a:srgbClr val="77746B"/>
                </a:solidFill>
                <a:latin typeface="Malgun Gothic" pitchFamily="34" charset="0"/>
                <a:ea typeface="Malgun Gothic" pitchFamily="34" charset="-122"/>
                <a:cs typeface="Malgun Gothic" pitchFamily="34" charset="-120"/>
              </a:rPr>
              <a:t>데모 예시 결과</a:t>
            </a:r>
            <a:endParaRPr lang="en-US" sz="1150" dirty="0"/>
          </a:p>
        </p:txBody>
      </p:sp>
      <p:sp>
        <p:nvSpPr>
          <p:cNvPr id="20" name="Text 16"/>
          <p:cNvSpPr txBox="1"/>
          <p:nvPr/>
        </p:nvSpPr>
        <p:spPr>
          <a:xfrm>
            <a:off x="4983480" y="5394960"/>
            <a:ext cx="3384755" cy="502920"/>
          </a:xfrm>
          <a:prstGeom prst="rect">
            <a:avLst/>
          </a:prstGeom>
          <a:noFill/>
          <a:ln/>
        </p:spPr>
        <p:txBody>
          <a:bodyPr wrap="square" lIns="0" tIns="0" rIns="0" bIns="0" rtlCol="0" anchor="ctr"/>
          <a:lstStyle/>
          <a:p>
            <a:pPr algn="ctr" indent="0" marL="0">
              <a:buNone/>
            </a:pPr>
            <a:r>
              <a:rPr lang="en-US" sz="2000" b="1" dirty="0">
                <a:solidFill>
                  <a:srgbClr val="103D3A"/>
                </a:solidFill>
                <a:latin typeface="Malgun Gothic" pitchFamily="34" charset="0"/>
                <a:ea typeface="Malgun Gothic" pitchFamily="34" charset="-122"/>
                <a:cs typeface="Malgun Gothic" pitchFamily="34" charset="-120"/>
              </a:rPr>
              <a:t>GO · 위험도 하</a:t>
            </a:r>
            <a:endParaRPr lang="en-US" sz="2000" dirty="0"/>
          </a:p>
        </p:txBody>
      </p:sp>
      <p:sp>
        <p:nvSpPr>
          <p:cNvPr id="21" name="Text 17"/>
          <p:cNvSpPr txBox="1"/>
          <p:nvPr/>
        </p:nvSpPr>
        <p:spPr>
          <a:xfrm>
            <a:off x="685800" y="6263640"/>
            <a:ext cx="3108960" cy="274320"/>
          </a:xfrm>
          <a:prstGeom prst="roundRect">
            <a:avLst>
              <a:gd name="adj" fmla="val 50000"/>
            </a:avLst>
          </a:prstGeom>
          <a:solidFill>
            <a:srgbClr val="EFE2C8"/>
          </a:solidFill>
          <a:ln/>
        </p:spPr>
        <p:txBody>
          <a:bodyPr wrap="square" lIns="0" tIns="0" rIns="0" bIns="0" rtlCol="0" anchor="ctr"/>
          <a:lstStyle/>
          <a:p>
            <a:pPr algn="ctr" indent="0" marL="0">
              <a:buNone/>
            </a:pPr>
            <a:r>
              <a:rPr lang="en-US" sz="1050" b="1" dirty="0">
                <a:solidFill>
                  <a:srgbClr val="17221F"/>
                </a:solidFill>
                <a:latin typeface="Malgun Gothic" pitchFamily="34" charset="0"/>
                <a:ea typeface="Malgun Gothic" pitchFamily="34" charset="-122"/>
                <a:cs typeface="Malgun Gothic" pitchFamily="34" charset="-120"/>
              </a:rPr>
              <a:t>데모 · 예시 숫자 (실제 매출·임대료 아님)</a:t>
            </a:r>
            <a:endParaRPr lang="en-US" sz="1050" dirty="0"/>
          </a:p>
        </p:txBody>
      </p:sp>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40080" y="457200"/>
            <a:ext cx="4525401" cy="5715000"/>
          </a:xfrm>
          <a:prstGeom prst="rect">
            <a:avLst/>
          </a:prstGeom>
          <a:solidFill>
            <a:srgbClr val="FFFFFF"/>
          </a:solidFill>
          <a:ln w="9525">
            <a:solidFill>
              <a:srgbClr val="D9D3C5"/>
            </a:solidFill>
            <a:prstDash val="solid"/>
          </a:ln>
          <a:effectLst>
            <a:outerShdw sx="100000" sy="100000" kx="0" ky="0" algn="bl" rotWithShape="0" blurRad="127000" dist="50800" dir="5400000">
              <a:srgbClr val="000000">
                <a:alpha val="12000"/>
              </a:srgbClr>
            </a:outerShdw>
          </a:effectLst>
        </p:spPr>
      </p:sp>
      <p:pic>
        <p:nvPicPr>
          <p:cNvPr id="3" name="Image 0" descr="떡기리 프로그램 화면">    </p:cNvPr>
          <p:cNvPicPr>
            <a:picLocks noChangeAspect="1"/>
          </p:cNvPicPr>
          <p:nvPr/>
        </p:nvPicPr>
        <p:blipFill>
          <a:blip r:embed="rId1"/>
          <a:stretch>
            <a:fillRect/>
          </a:stretch>
        </p:blipFill>
        <p:spPr>
          <a:xfrm>
            <a:off x="685800" y="502920"/>
            <a:ext cx="4433961" cy="5623560"/>
          </a:xfrm>
          <a:prstGeom prst="rect">
            <a:avLst/>
          </a:prstGeom>
        </p:spPr>
      </p:pic>
      <p:sp>
        <p:nvSpPr>
          <p:cNvPr id="4" name="Text 1"/>
          <p:cNvSpPr txBox="1"/>
          <p:nvPr/>
        </p:nvSpPr>
        <p:spPr>
          <a:xfrm>
            <a:off x="2125540" y="6236208"/>
            <a:ext cx="1554480" cy="274320"/>
          </a:xfrm>
          <a:prstGeom prst="roundRect">
            <a:avLst>
              <a:gd name="adj" fmla="val 50000"/>
            </a:avLst>
          </a:prstGeom>
          <a:solidFill>
            <a:srgbClr val="EFE2C8"/>
          </a:solidFill>
          <a:ln/>
        </p:spPr>
        <p:txBody>
          <a:bodyPr wrap="square" lIns="0" tIns="0" rIns="0" bIns="0" rtlCol="0" anchor="ctr"/>
          <a:lstStyle/>
          <a:p>
            <a:pPr algn="ctr" indent="0" marL="0">
              <a:buNone/>
            </a:pPr>
            <a:r>
              <a:rPr lang="en-US" sz="1050" b="1" dirty="0">
                <a:solidFill>
                  <a:srgbClr val="17221F"/>
                </a:solidFill>
                <a:latin typeface="Malgun Gothic" pitchFamily="34" charset="0"/>
                <a:ea typeface="Malgun Gothic" pitchFamily="34" charset="-122"/>
                <a:cs typeface="Malgun Gothic" pitchFamily="34" charset="-120"/>
              </a:rPr>
              <a:t>데모 · 가상 매장</a:t>
            </a:r>
            <a:endParaRPr lang="en-US" sz="1050" dirty="0"/>
          </a:p>
        </p:txBody>
      </p:sp>
      <p:sp>
        <p:nvSpPr>
          <p:cNvPr id="5" name="Text 2"/>
          <p:cNvSpPr txBox="1"/>
          <p:nvPr/>
        </p:nvSpPr>
        <p:spPr>
          <a:xfrm>
            <a:off x="5669280" y="640080"/>
            <a:ext cx="5486400" cy="320040"/>
          </a:xfrm>
          <a:prstGeom prst="rect">
            <a:avLst/>
          </a:prstGeom>
          <a:noFill/>
          <a:ln/>
        </p:spPr>
        <p:txBody>
          <a:bodyPr wrap="square" lIns="0" tIns="0" rIns="0" bIns="0" rtlCol="0" anchor="t"/>
          <a:lstStyle/>
          <a:p>
            <a:pPr indent="0" marL="0">
              <a:buNone/>
            </a:pPr>
            <a:r>
              <a:rPr lang="en-US" sz="1400" b="1" spc="100" kern="0" dirty="0">
                <a:solidFill>
                  <a:srgbClr val="C9A46A"/>
                </a:solidFill>
                <a:latin typeface="Malgun Gothic" pitchFamily="34" charset="0"/>
                <a:ea typeface="Malgun Gothic" pitchFamily="34" charset="-122"/>
                <a:cs typeface="Malgun Gothic" pitchFamily="34" charset="-120"/>
              </a:rPr>
              <a:t>신규매장 오픈 관리</a:t>
            </a:r>
            <a:endParaRPr lang="en-US" sz="1400" dirty="0"/>
          </a:p>
        </p:txBody>
      </p:sp>
      <p:sp>
        <p:nvSpPr>
          <p:cNvPr id="6" name="Text 3"/>
          <p:cNvSpPr txBox="1"/>
          <p:nvPr/>
        </p:nvSpPr>
        <p:spPr>
          <a:xfrm>
            <a:off x="5669280" y="1005840"/>
            <a:ext cx="5943600" cy="1463040"/>
          </a:xfrm>
          <a:prstGeom prst="rect">
            <a:avLst/>
          </a:prstGeom>
          <a:noFill/>
          <a:ln/>
        </p:spPr>
        <p:txBody>
          <a:bodyPr wrap="square" lIns="0" tIns="0" rIns="0" bIns="0" rtlCol="0" anchor="t"/>
          <a:lstStyle/>
          <a:p>
            <a:pPr indent="0" marL="0">
              <a:lnSpc>
                <a:spcPct val="105000"/>
              </a:lnSpc>
              <a:buNone/>
            </a:pPr>
            <a:r>
              <a:rPr lang="en-US" sz="3800" b="1" dirty="0">
                <a:solidFill>
                  <a:srgbClr val="17221F"/>
                </a:solidFill>
                <a:latin typeface="Malgun Gothic" pitchFamily="34" charset="0"/>
                <a:ea typeface="Malgun Gothic" pitchFamily="34" charset="-122"/>
                <a:cs typeface="Malgun Gothic" pitchFamily="34" charset="-120"/>
              </a:rPr>
              <a:t>오픈 전부터</a:t>
            </a:r>
            <a:endParaRPr lang="en-US" sz="3800" dirty="0"/>
          </a:p>
          <a:p>
            <a:pPr indent="0" marL="0">
              <a:lnSpc>
                <a:spcPct val="105000"/>
              </a:lnSpc>
              <a:buNone/>
            </a:pPr>
            <a:r>
              <a:rPr lang="en-US" sz="3800" b="1" dirty="0">
                <a:solidFill>
                  <a:srgbClr val="17221F"/>
                </a:solidFill>
                <a:latin typeface="Malgun Gothic" pitchFamily="34" charset="0"/>
                <a:ea typeface="Malgun Gothic" pitchFamily="34" charset="-122"/>
                <a:cs typeface="Malgun Gothic" pitchFamily="34" charset="-120"/>
              </a:rPr>
              <a:t>오픈 후까지</a:t>
            </a:r>
            <a:endParaRPr lang="en-US" sz="3800" dirty="0"/>
          </a:p>
        </p:txBody>
      </p:sp>
      <p:sp>
        <p:nvSpPr>
          <p:cNvPr id="7" name="Shape 4"/>
          <p:cNvSpPr/>
          <p:nvPr/>
        </p:nvSpPr>
        <p:spPr>
          <a:xfrm>
            <a:off x="5669280" y="2834640"/>
            <a:ext cx="5989320" cy="1600200"/>
          </a:xfrm>
          <a:prstGeom prst="rect">
            <a:avLst/>
          </a:prstGeom>
          <a:solidFill>
            <a:srgbClr val="103D3A"/>
          </a:solidFill>
          <a:ln/>
        </p:spPr>
      </p:sp>
      <p:sp>
        <p:nvSpPr>
          <p:cNvPr id="8" name="Text 5"/>
          <p:cNvSpPr txBox="1"/>
          <p:nvPr/>
        </p:nvSpPr>
        <p:spPr>
          <a:xfrm>
            <a:off x="5943600" y="2926080"/>
            <a:ext cx="2377440" cy="914400"/>
          </a:xfrm>
          <a:prstGeom prst="rect">
            <a:avLst/>
          </a:prstGeom>
          <a:noFill/>
          <a:ln/>
        </p:spPr>
        <p:txBody>
          <a:bodyPr wrap="square" lIns="0" tIns="0" rIns="0" bIns="0" rtlCol="0" anchor="ctr"/>
          <a:lstStyle/>
          <a:p>
            <a:pPr indent="0" marL="0">
              <a:buNone/>
            </a:pPr>
            <a:r>
              <a:rPr lang="en-US" sz="4800" b="1" dirty="0">
                <a:solidFill>
                  <a:srgbClr val="FFFFFF"/>
                </a:solidFill>
                <a:latin typeface="Malgun Gothic" pitchFamily="34" charset="0"/>
                <a:ea typeface="Malgun Gothic" pitchFamily="34" charset="-122"/>
                <a:cs typeface="Malgun Gothic" pitchFamily="34" charset="-120"/>
              </a:rPr>
              <a:t>D-60</a:t>
            </a:r>
            <a:endParaRPr lang="en-US" sz="4800" dirty="0"/>
          </a:p>
        </p:txBody>
      </p:sp>
      <p:sp>
        <p:nvSpPr>
          <p:cNvPr id="9" name="Text 6"/>
          <p:cNvSpPr txBox="1"/>
          <p:nvPr/>
        </p:nvSpPr>
        <p:spPr>
          <a:xfrm>
            <a:off x="8229600" y="2926080"/>
            <a:ext cx="731520" cy="914400"/>
          </a:xfrm>
          <a:prstGeom prst="rect">
            <a:avLst/>
          </a:prstGeom>
          <a:noFill/>
          <a:ln/>
        </p:spPr>
        <p:txBody>
          <a:bodyPr wrap="square" lIns="0" tIns="0" rIns="0" bIns="0" rtlCol="0" anchor="ctr"/>
          <a:lstStyle/>
          <a:p>
            <a:pPr algn="ctr" indent="0" marL="0">
              <a:buNone/>
            </a:pPr>
            <a:r>
              <a:rPr lang="en-US" sz="3400" b="1" dirty="0">
                <a:solidFill>
                  <a:srgbClr val="C9A46A"/>
                </a:solidFill>
                <a:latin typeface="Malgun Gothic" pitchFamily="34" charset="0"/>
                <a:ea typeface="Malgun Gothic" pitchFamily="34" charset="-122"/>
                <a:cs typeface="Malgun Gothic" pitchFamily="34" charset="-120"/>
              </a:rPr>
              <a:t>→</a:t>
            </a:r>
            <a:endParaRPr lang="en-US" sz="3400" dirty="0"/>
          </a:p>
        </p:txBody>
      </p:sp>
      <p:sp>
        <p:nvSpPr>
          <p:cNvPr id="10" name="Text 7"/>
          <p:cNvSpPr txBox="1"/>
          <p:nvPr/>
        </p:nvSpPr>
        <p:spPr>
          <a:xfrm>
            <a:off x="8961120" y="2926080"/>
            <a:ext cx="2560320" cy="914400"/>
          </a:xfrm>
          <a:prstGeom prst="rect">
            <a:avLst/>
          </a:prstGeom>
          <a:noFill/>
          <a:ln/>
        </p:spPr>
        <p:txBody>
          <a:bodyPr wrap="square" lIns="0" tIns="0" rIns="0" bIns="0" rtlCol="0" anchor="ctr"/>
          <a:lstStyle/>
          <a:p>
            <a:pPr indent="0" marL="0">
              <a:buNone/>
            </a:pPr>
            <a:r>
              <a:rPr lang="en-US" sz="4800" b="1" dirty="0">
                <a:solidFill>
                  <a:srgbClr val="FFFFFF"/>
                </a:solidFill>
                <a:latin typeface="Malgun Gothic" pitchFamily="34" charset="0"/>
                <a:ea typeface="Malgun Gothic" pitchFamily="34" charset="-122"/>
                <a:cs typeface="Malgun Gothic" pitchFamily="34" charset="-120"/>
              </a:rPr>
              <a:t>D+30</a:t>
            </a:r>
            <a:endParaRPr lang="en-US" sz="4800" dirty="0"/>
          </a:p>
        </p:txBody>
      </p:sp>
      <p:sp>
        <p:nvSpPr>
          <p:cNvPr id="11" name="Text 8"/>
          <p:cNvSpPr txBox="1"/>
          <p:nvPr/>
        </p:nvSpPr>
        <p:spPr>
          <a:xfrm>
            <a:off x="5943600" y="3840480"/>
            <a:ext cx="5577840" cy="411480"/>
          </a:xfrm>
          <a:prstGeom prst="rect">
            <a:avLst/>
          </a:prstGeom>
          <a:noFill/>
          <a:ln/>
        </p:spPr>
        <p:txBody>
          <a:bodyPr wrap="square" lIns="0" tIns="0" rIns="0" bIns="0" rtlCol="0" anchor="t"/>
          <a:lstStyle/>
          <a:p>
            <a:pPr indent="0" marL="0">
              <a:buNone/>
            </a:pPr>
            <a:r>
              <a:rPr lang="en-US" sz="1500" dirty="0">
                <a:solidFill>
                  <a:srgbClr val="CFE0DB"/>
                </a:solidFill>
                <a:latin typeface="Malgun Gothic" pitchFamily="34" charset="0"/>
                <a:ea typeface="Malgun Gothic" pitchFamily="34" charset="-122"/>
                <a:cs typeface="Malgun Gothic" pitchFamily="34" charset="-120"/>
              </a:rPr>
              <a:t>채용 · 교육 · POS · 발주 · 홍보 · 정산</a:t>
            </a:r>
            <a:endParaRPr lang="en-US" sz="1500" dirty="0"/>
          </a:p>
        </p:txBody>
      </p:sp>
      <p:sp>
        <p:nvSpPr>
          <p:cNvPr id="12" name="Text 9"/>
          <p:cNvSpPr txBox="1"/>
          <p:nvPr/>
        </p:nvSpPr>
        <p:spPr>
          <a:xfrm>
            <a:off x="5669280" y="4800600"/>
            <a:ext cx="5943600" cy="411480"/>
          </a:xfrm>
          <a:prstGeom prst="rect">
            <a:avLst/>
          </a:prstGeom>
          <a:noFill/>
          <a:ln/>
        </p:spPr>
        <p:txBody>
          <a:bodyPr wrap="square" lIns="0" tIns="0" rIns="0" bIns="0" rtlCol="0" anchor="t"/>
          <a:lstStyle/>
          <a:p>
            <a:pPr indent="0" marL="0">
              <a:buNone/>
            </a:pPr>
            <a:r>
              <a:rPr lang="en-US" sz="1800" b="1" dirty="0">
                <a:solidFill>
                  <a:srgbClr val="103D3A"/>
                </a:solidFill>
                <a:latin typeface="Malgun Gothic" pitchFamily="34" charset="0"/>
                <a:ea typeface="Malgun Gothic" pitchFamily="34" charset="-122"/>
                <a:cs typeface="Malgun Gothic" pitchFamily="34" charset="-120"/>
              </a:rPr>
              <a:t>늦어진 준비는 홈 화면으로 올라옵니다</a:t>
            </a:r>
            <a:endParaRPr lang="en-US" sz="1800" dirty="0"/>
          </a:p>
        </p:txBody>
      </p:sp>
      <p:sp>
        <p:nvSpPr>
          <p:cNvPr id="13" name="Shape 10"/>
          <p:cNvSpPr/>
          <p:nvPr/>
        </p:nvSpPr>
        <p:spPr>
          <a:xfrm>
            <a:off x="5669280" y="6400800"/>
            <a:ext cx="1188720" cy="41148"/>
          </a:xfrm>
          <a:prstGeom prst="rect">
            <a:avLst/>
          </a:prstGeom>
          <a:solidFill>
            <a:srgbClr val="103D3A"/>
          </a:solidFill>
          <a:ln/>
        </p:spPr>
      </p:sp>
      <p:sp>
        <p:nvSpPr>
          <p:cNvPr id="14" name="Shape 11"/>
          <p:cNvSpPr/>
          <p:nvPr/>
        </p:nvSpPr>
        <p:spPr>
          <a:xfrm>
            <a:off x="6858000" y="6420917"/>
            <a:ext cx="4800600" cy="0"/>
          </a:xfrm>
          <a:prstGeom prst="line">
            <a:avLst/>
          </a:prstGeom>
          <a:noFill/>
          <a:ln w="9525">
            <a:solidFill>
              <a:srgbClr val="D9D3C5"/>
            </a:solidFill>
            <a:prstDash val="solid"/>
          </a:ln>
        </p:spPr>
      </p:sp>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897880" cy="6858000"/>
          </a:xfrm>
          <a:prstGeom prst="rect">
            <a:avLst/>
          </a:prstGeom>
          <a:solidFill>
            <a:srgbClr val="103D3A"/>
          </a:solidFill>
          <a:ln/>
        </p:spPr>
      </p:sp>
      <p:sp>
        <p:nvSpPr>
          <p:cNvPr id="3" name="Text 1"/>
          <p:cNvSpPr txBox="1"/>
          <p:nvPr/>
        </p:nvSpPr>
        <p:spPr>
          <a:xfrm>
            <a:off x="685800" y="685800"/>
            <a:ext cx="4572000" cy="320040"/>
          </a:xfrm>
          <a:prstGeom prst="rect">
            <a:avLst/>
          </a:prstGeom>
          <a:noFill/>
          <a:ln/>
        </p:spPr>
        <p:txBody>
          <a:bodyPr wrap="square" lIns="0" tIns="0" rIns="0" bIns="0" rtlCol="0" anchor="t"/>
          <a:lstStyle/>
          <a:p>
            <a:pPr indent="0" marL="0">
              <a:buNone/>
            </a:pPr>
            <a:r>
              <a:rPr lang="en-US" sz="1400" b="1" spc="100" kern="0" dirty="0">
                <a:solidFill>
                  <a:srgbClr val="C9A46A"/>
                </a:solidFill>
                <a:latin typeface="Malgun Gothic" pitchFamily="34" charset="0"/>
                <a:ea typeface="Malgun Gothic" pitchFamily="34" charset="-122"/>
                <a:cs typeface="Malgun Gothic" pitchFamily="34" charset="-120"/>
              </a:rPr>
              <a:t>마케팅 보드</a:t>
            </a:r>
            <a:endParaRPr lang="en-US" sz="1400" dirty="0"/>
          </a:p>
        </p:txBody>
      </p:sp>
      <p:sp>
        <p:nvSpPr>
          <p:cNvPr id="4" name="Text 2"/>
          <p:cNvSpPr txBox="1"/>
          <p:nvPr/>
        </p:nvSpPr>
        <p:spPr>
          <a:xfrm>
            <a:off x="685800" y="1051560"/>
            <a:ext cx="5029200" cy="1600200"/>
          </a:xfrm>
          <a:prstGeom prst="rect">
            <a:avLst/>
          </a:prstGeom>
          <a:noFill/>
          <a:ln/>
        </p:spPr>
        <p:txBody>
          <a:bodyPr wrap="square" lIns="0" tIns="0" rIns="0" bIns="0" rtlCol="0" anchor="t"/>
          <a:lstStyle/>
          <a:p>
            <a:pPr indent="0" marL="0">
              <a:lnSpc>
                <a:spcPct val="105000"/>
              </a:lnSpc>
              <a:buNone/>
            </a:pPr>
            <a:r>
              <a:rPr lang="en-US" sz="3600" b="1" dirty="0">
                <a:solidFill>
                  <a:srgbClr val="FFFFFF"/>
                </a:solidFill>
                <a:latin typeface="Malgun Gothic" pitchFamily="34" charset="0"/>
                <a:ea typeface="Malgun Gothic" pitchFamily="34" charset="-122"/>
                <a:cs typeface="Malgun Gothic" pitchFamily="34" charset="-120"/>
              </a:rPr>
              <a:t>마케팅 아이디어와</a:t>
            </a:r>
            <a:endParaRPr lang="en-US" sz="3600" dirty="0"/>
          </a:p>
          <a:p>
            <a:pPr indent="0" marL="0">
              <a:lnSpc>
                <a:spcPct val="105000"/>
              </a:lnSpc>
              <a:buNone/>
            </a:pPr>
            <a:r>
              <a:rPr lang="en-US" sz="3600" b="1" dirty="0">
                <a:solidFill>
                  <a:srgbClr val="FFFFFF"/>
                </a:solidFill>
                <a:latin typeface="Malgun Gothic" pitchFamily="34" charset="0"/>
                <a:ea typeface="Malgun Gothic" pitchFamily="34" charset="-122"/>
                <a:cs typeface="Malgun Gothic" pitchFamily="34" charset="-120"/>
              </a:rPr>
              <a:t>일정을 한곳에</a:t>
            </a:r>
            <a:endParaRPr lang="en-US" sz="3600" dirty="0"/>
          </a:p>
        </p:txBody>
      </p:sp>
      <p:sp>
        <p:nvSpPr>
          <p:cNvPr id="5" name="Text 3"/>
          <p:cNvSpPr txBox="1"/>
          <p:nvPr/>
        </p:nvSpPr>
        <p:spPr>
          <a:xfrm>
            <a:off x="685800" y="3108960"/>
            <a:ext cx="2286000" cy="548640"/>
          </a:xfrm>
          <a:prstGeom prst="roundRect">
            <a:avLst>
              <a:gd name="adj" fmla="val 50000"/>
            </a:avLst>
          </a:prstGeom>
          <a:solidFill>
            <a:srgbClr val="F7F2E8"/>
          </a:solidFill>
          <a:ln/>
        </p:spPr>
        <p:txBody>
          <a:bodyPr wrap="square" lIns="0" tIns="0" rIns="0" bIns="0" rtlCol="0" anchor="ctr"/>
          <a:lstStyle/>
          <a:p>
            <a:pPr algn="ctr" indent="0" marL="0">
              <a:buNone/>
            </a:pPr>
            <a:r>
              <a:rPr lang="en-US" sz="1600" b="1" dirty="0">
                <a:solidFill>
                  <a:srgbClr val="103D3A"/>
                </a:solidFill>
                <a:latin typeface="Malgun Gothic" pitchFamily="34" charset="0"/>
                <a:ea typeface="Malgun Gothic" pitchFamily="34" charset="-122"/>
                <a:cs typeface="Malgun Gothic" pitchFamily="34" charset="-120"/>
              </a:rPr>
              <a:t>인스타그램</a:t>
            </a:r>
            <a:endParaRPr lang="en-US" sz="1600" dirty="0"/>
          </a:p>
        </p:txBody>
      </p:sp>
      <p:sp>
        <p:nvSpPr>
          <p:cNvPr id="6" name="Text 4"/>
          <p:cNvSpPr txBox="1"/>
          <p:nvPr/>
        </p:nvSpPr>
        <p:spPr>
          <a:xfrm>
            <a:off x="3154680" y="3108960"/>
            <a:ext cx="2286000" cy="548640"/>
          </a:xfrm>
          <a:prstGeom prst="roundRect">
            <a:avLst>
              <a:gd name="adj" fmla="val 50000"/>
            </a:avLst>
          </a:prstGeom>
          <a:solidFill>
            <a:srgbClr val="F7F2E8"/>
          </a:solidFill>
          <a:ln/>
        </p:spPr>
        <p:txBody>
          <a:bodyPr wrap="square" lIns="0" tIns="0" rIns="0" bIns="0" rtlCol="0" anchor="ctr"/>
          <a:lstStyle/>
          <a:p>
            <a:pPr algn="ctr" indent="0" marL="0">
              <a:buNone/>
            </a:pPr>
            <a:r>
              <a:rPr lang="en-US" sz="1600" b="1" dirty="0">
                <a:solidFill>
                  <a:srgbClr val="103D3A"/>
                </a:solidFill>
                <a:latin typeface="Malgun Gothic" pitchFamily="34" charset="0"/>
                <a:ea typeface="Malgun Gothic" pitchFamily="34" charset="-122"/>
                <a:cs typeface="Malgun Gothic" pitchFamily="34" charset="-120"/>
              </a:rPr>
              <a:t>네이버</a:t>
            </a:r>
            <a:endParaRPr lang="en-US" sz="1600" dirty="0"/>
          </a:p>
        </p:txBody>
      </p:sp>
      <p:sp>
        <p:nvSpPr>
          <p:cNvPr id="7" name="Text 5"/>
          <p:cNvSpPr txBox="1"/>
          <p:nvPr/>
        </p:nvSpPr>
        <p:spPr>
          <a:xfrm>
            <a:off x="685800" y="3840480"/>
            <a:ext cx="2286000" cy="548640"/>
          </a:xfrm>
          <a:prstGeom prst="roundRect">
            <a:avLst>
              <a:gd name="adj" fmla="val 50000"/>
            </a:avLst>
          </a:prstGeom>
          <a:solidFill>
            <a:srgbClr val="F7F2E8"/>
          </a:solidFill>
          <a:ln/>
        </p:spPr>
        <p:txBody>
          <a:bodyPr wrap="square" lIns="0" tIns="0" rIns="0" bIns="0" rtlCol="0" anchor="ctr"/>
          <a:lstStyle/>
          <a:p>
            <a:pPr algn="ctr" indent="0" marL="0">
              <a:buNone/>
            </a:pPr>
            <a:r>
              <a:rPr lang="en-US" sz="1600" b="1" dirty="0">
                <a:solidFill>
                  <a:srgbClr val="103D3A"/>
                </a:solidFill>
                <a:latin typeface="Malgun Gothic" pitchFamily="34" charset="0"/>
                <a:ea typeface="Malgun Gothic" pitchFamily="34" charset="-122"/>
                <a:cs typeface="Malgun Gothic" pitchFamily="34" charset="-120"/>
              </a:rPr>
              <a:t>이벤트</a:t>
            </a:r>
            <a:endParaRPr lang="en-US" sz="1600" dirty="0"/>
          </a:p>
        </p:txBody>
      </p:sp>
      <p:sp>
        <p:nvSpPr>
          <p:cNvPr id="8" name="Text 6"/>
          <p:cNvSpPr txBox="1"/>
          <p:nvPr/>
        </p:nvSpPr>
        <p:spPr>
          <a:xfrm>
            <a:off x="3154680" y="3840480"/>
            <a:ext cx="2286000" cy="548640"/>
          </a:xfrm>
          <a:prstGeom prst="roundRect">
            <a:avLst>
              <a:gd name="adj" fmla="val 50000"/>
            </a:avLst>
          </a:prstGeom>
          <a:solidFill>
            <a:srgbClr val="F7F2E8"/>
          </a:solidFill>
          <a:ln/>
        </p:spPr>
        <p:txBody>
          <a:bodyPr wrap="square" lIns="0" tIns="0" rIns="0" bIns="0" rtlCol="0" anchor="ctr"/>
          <a:lstStyle/>
          <a:p>
            <a:pPr algn="ctr" indent="0" marL="0">
              <a:buNone/>
            </a:pPr>
            <a:r>
              <a:rPr lang="en-US" sz="1600" b="1" dirty="0">
                <a:solidFill>
                  <a:srgbClr val="103D3A"/>
                </a:solidFill>
                <a:latin typeface="Malgun Gothic" pitchFamily="34" charset="0"/>
                <a:ea typeface="Malgun Gothic" pitchFamily="34" charset="-122"/>
                <a:cs typeface="Malgun Gothic" pitchFamily="34" charset="-120"/>
              </a:rPr>
              <a:t>신메뉴 출시</a:t>
            </a:r>
            <a:endParaRPr lang="en-US" sz="1600" dirty="0"/>
          </a:p>
        </p:txBody>
      </p:sp>
      <p:sp>
        <p:nvSpPr>
          <p:cNvPr id="9" name="Text 7"/>
          <p:cNvSpPr txBox="1"/>
          <p:nvPr/>
        </p:nvSpPr>
        <p:spPr>
          <a:xfrm>
            <a:off x="685800" y="4846320"/>
            <a:ext cx="5029200" cy="411480"/>
          </a:xfrm>
          <a:prstGeom prst="rect">
            <a:avLst/>
          </a:prstGeom>
          <a:noFill/>
          <a:ln/>
        </p:spPr>
        <p:txBody>
          <a:bodyPr wrap="square" lIns="0" tIns="0" rIns="0" bIns="0" rtlCol="0" anchor="t"/>
          <a:lstStyle/>
          <a:p>
            <a:pPr indent="0" marL="0">
              <a:buNone/>
            </a:pPr>
            <a:r>
              <a:rPr lang="en-US" sz="1800" b="1" dirty="0">
                <a:solidFill>
                  <a:srgbClr val="C9A46A"/>
                </a:solidFill>
                <a:latin typeface="Malgun Gothic" pitchFamily="34" charset="0"/>
                <a:ea typeface="Malgun Gothic" pitchFamily="34" charset="-122"/>
                <a:cs typeface="Malgun Gothic" pitchFamily="34" charset="-120"/>
              </a:rPr>
              <a:t>아이디어 → 준비 중 → 진행 중</a:t>
            </a:r>
            <a:endParaRPr lang="en-US" sz="1800" dirty="0"/>
          </a:p>
        </p:txBody>
      </p:sp>
      <p:sp>
        <p:nvSpPr>
          <p:cNvPr id="10" name="Shape 8"/>
          <p:cNvSpPr/>
          <p:nvPr/>
        </p:nvSpPr>
        <p:spPr>
          <a:xfrm>
            <a:off x="6629400" y="457200"/>
            <a:ext cx="4525401" cy="5715000"/>
          </a:xfrm>
          <a:prstGeom prst="rect">
            <a:avLst/>
          </a:prstGeom>
          <a:solidFill>
            <a:srgbClr val="FFFFFF"/>
          </a:solidFill>
          <a:ln w="9525">
            <a:solidFill>
              <a:srgbClr val="D9D3C5"/>
            </a:solidFill>
            <a:prstDash val="solid"/>
          </a:ln>
          <a:effectLst>
            <a:outerShdw sx="100000" sy="100000" kx="0" ky="0" algn="bl" rotWithShape="0" blurRad="127000" dist="50800" dir="5400000">
              <a:srgbClr val="000000">
                <a:alpha val="12000"/>
              </a:srgbClr>
            </a:outerShdw>
          </a:effectLst>
        </p:spPr>
      </p:sp>
      <p:pic>
        <p:nvPicPr>
          <p:cNvPr id="11" name="Image 0" descr="떡기리 프로그램 화면">    </p:cNvPr>
          <p:cNvPicPr>
            <a:picLocks noChangeAspect="1"/>
          </p:cNvPicPr>
          <p:nvPr/>
        </p:nvPicPr>
        <p:blipFill>
          <a:blip r:embed="rId1"/>
          <a:stretch>
            <a:fillRect/>
          </a:stretch>
        </p:blipFill>
        <p:spPr>
          <a:xfrm>
            <a:off x="6675120" y="502920"/>
            <a:ext cx="4433961" cy="5623560"/>
          </a:xfrm>
          <a:prstGeom prst="rect">
            <a:avLst/>
          </a:prstGeom>
        </p:spPr>
      </p:pic>
      <p:sp>
        <p:nvSpPr>
          <p:cNvPr id="12" name="Text 9"/>
          <p:cNvSpPr txBox="1"/>
          <p:nvPr/>
        </p:nvSpPr>
        <p:spPr>
          <a:xfrm>
            <a:off x="8252020" y="6236208"/>
            <a:ext cx="1280160" cy="274320"/>
          </a:xfrm>
          <a:prstGeom prst="roundRect">
            <a:avLst>
              <a:gd name="adj" fmla="val 50000"/>
            </a:avLst>
          </a:prstGeom>
          <a:solidFill>
            <a:srgbClr val="EFE2C8"/>
          </a:solidFill>
          <a:ln/>
        </p:spPr>
        <p:txBody>
          <a:bodyPr wrap="square" lIns="0" tIns="0" rIns="0" bIns="0" rtlCol="0" anchor="ctr"/>
          <a:lstStyle/>
          <a:p>
            <a:pPr algn="ctr" indent="0" marL="0">
              <a:buNone/>
            </a:pPr>
            <a:r>
              <a:rPr lang="en-US" sz="1050" b="1" dirty="0">
                <a:solidFill>
                  <a:srgbClr val="17221F"/>
                </a:solidFill>
                <a:latin typeface="Malgun Gothic" pitchFamily="34" charset="0"/>
                <a:ea typeface="Malgun Gothic" pitchFamily="34" charset="-122"/>
                <a:cs typeface="Malgun Gothic" pitchFamily="34" charset="-120"/>
              </a:rPr>
              <a:t>데모 · 예시</a:t>
            </a:r>
            <a:endParaRPr lang="en-US" sz="1050" dirty="0"/>
          </a:p>
        </p:txBody>
      </p:sp>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640080"/>
            <a:ext cx="4572000" cy="320040"/>
          </a:xfrm>
          <a:prstGeom prst="rect">
            <a:avLst/>
          </a:prstGeom>
          <a:noFill/>
          <a:ln/>
        </p:spPr>
        <p:txBody>
          <a:bodyPr wrap="square" lIns="0" tIns="0" rIns="0" bIns="0" rtlCol="0" anchor="t"/>
          <a:lstStyle/>
          <a:p>
            <a:pPr indent="0" marL="0">
              <a:buNone/>
            </a:pPr>
            <a:r>
              <a:rPr lang="en-US" sz="1400" b="1" spc="100" kern="0" dirty="0">
                <a:solidFill>
                  <a:srgbClr val="C9A46A"/>
                </a:solidFill>
                <a:latin typeface="Malgun Gothic" pitchFamily="34" charset="0"/>
                <a:ea typeface="Malgun Gothic" pitchFamily="34" charset="-122"/>
                <a:cs typeface="Malgun Gothic" pitchFamily="34" charset="-120"/>
              </a:rPr>
              <a:t>AI 시장 브리핑</a:t>
            </a:r>
            <a:endParaRPr lang="en-US" sz="1400" dirty="0"/>
          </a:p>
        </p:txBody>
      </p:sp>
      <p:sp>
        <p:nvSpPr>
          <p:cNvPr id="3" name="Text 1"/>
          <p:cNvSpPr txBox="1"/>
          <p:nvPr/>
        </p:nvSpPr>
        <p:spPr>
          <a:xfrm>
            <a:off x="685800" y="1005840"/>
            <a:ext cx="5760720" cy="1508760"/>
          </a:xfrm>
          <a:prstGeom prst="rect">
            <a:avLst/>
          </a:prstGeom>
          <a:noFill/>
          <a:ln/>
        </p:spPr>
        <p:txBody>
          <a:bodyPr wrap="square" lIns="0" tIns="0" rIns="0" bIns="0" rtlCol="0" anchor="t"/>
          <a:lstStyle/>
          <a:p>
            <a:pPr indent="0" marL="0">
              <a:lnSpc>
                <a:spcPct val="105000"/>
              </a:lnSpc>
              <a:buNone/>
            </a:pPr>
            <a:r>
              <a:rPr lang="en-US" sz="3400" b="1" dirty="0">
                <a:solidFill>
                  <a:srgbClr val="17221F"/>
                </a:solidFill>
                <a:latin typeface="Malgun Gothic" pitchFamily="34" charset="0"/>
                <a:ea typeface="Malgun Gothic" pitchFamily="34" charset="-122"/>
                <a:cs typeface="Malgun Gothic" pitchFamily="34" charset="-120"/>
              </a:rPr>
              <a:t>떡과 K-디저트 시장,</a:t>
            </a:r>
            <a:endParaRPr lang="en-US" sz="3400" dirty="0"/>
          </a:p>
          <a:p>
            <a:pPr indent="0" marL="0">
              <a:lnSpc>
                <a:spcPct val="105000"/>
              </a:lnSpc>
              <a:buNone/>
            </a:pPr>
            <a:r>
              <a:rPr lang="en-US" sz="3400" b="1" dirty="0">
                <a:solidFill>
                  <a:srgbClr val="17221F"/>
                </a:solidFill>
                <a:latin typeface="Malgun Gothic" pitchFamily="34" charset="0"/>
                <a:ea typeface="Malgun Gothic" pitchFamily="34" charset="-122"/>
                <a:cs typeface="Malgun Gothic" pitchFamily="34" charset="-120"/>
              </a:rPr>
              <a:t>AI가 조사해 둡니다</a:t>
            </a:r>
            <a:endParaRPr lang="en-US" sz="3400" dirty="0"/>
          </a:p>
        </p:txBody>
      </p:sp>
      <p:sp>
        <p:nvSpPr>
          <p:cNvPr id="4" name="Text 2"/>
          <p:cNvSpPr txBox="1"/>
          <p:nvPr/>
        </p:nvSpPr>
        <p:spPr>
          <a:xfrm>
            <a:off x="685800" y="2834640"/>
            <a:ext cx="1737360" cy="822960"/>
          </a:xfrm>
          <a:prstGeom prst="rect">
            <a:avLst/>
          </a:prstGeom>
          <a:noFill/>
          <a:ln/>
        </p:spPr>
        <p:txBody>
          <a:bodyPr wrap="square" lIns="0" tIns="0" rIns="0" bIns="0" rtlCol="0" anchor="ctr"/>
          <a:lstStyle/>
          <a:p>
            <a:pPr indent="0" marL="0">
              <a:buNone/>
            </a:pPr>
            <a:r>
              <a:rPr lang="en-US" sz="3400" b="1" dirty="0">
                <a:solidFill>
                  <a:srgbClr val="103D3A"/>
                </a:solidFill>
                <a:latin typeface="Malgun Gothic" pitchFamily="34" charset="0"/>
                <a:ea typeface="Malgun Gothic" pitchFamily="34" charset="-122"/>
                <a:cs typeface="Malgun Gothic" pitchFamily="34" charset="-120"/>
              </a:rPr>
              <a:t>8건</a:t>
            </a:r>
            <a:endParaRPr lang="en-US" sz="3400" dirty="0"/>
          </a:p>
        </p:txBody>
      </p:sp>
      <p:sp>
        <p:nvSpPr>
          <p:cNvPr id="5" name="Text 3"/>
          <p:cNvSpPr txBox="1"/>
          <p:nvPr/>
        </p:nvSpPr>
        <p:spPr>
          <a:xfrm>
            <a:off x="2468880" y="2834640"/>
            <a:ext cx="3931920" cy="822960"/>
          </a:xfrm>
          <a:prstGeom prst="rect">
            <a:avLst/>
          </a:prstGeom>
          <a:noFill/>
          <a:ln/>
        </p:spPr>
        <p:txBody>
          <a:bodyPr wrap="square" lIns="0" tIns="0" rIns="0" bIns="0" rtlCol="0" anchor="ctr"/>
          <a:lstStyle/>
          <a:p>
            <a:pPr indent="0" marL="0">
              <a:buNone/>
            </a:pPr>
            <a:r>
              <a:rPr lang="en-US" sz="1500" dirty="0">
                <a:solidFill>
                  <a:srgbClr val="17221F"/>
                </a:solidFill>
                <a:latin typeface="Malgun Gothic" pitchFamily="34" charset="0"/>
                <a:ea typeface="Malgun Gothic" pitchFamily="34" charset="-122"/>
                <a:cs typeface="Malgun Gothic" pitchFamily="34" charset="-120"/>
              </a:rPr>
              <a:t>시장 소식 · 출처 포함</a:t>
            </a:r>
            <a:endParaRPr lang="en-US" sz="1500" dirty="0"/>
          </a:p>
        </p:txBody>
      </p:sp>
      <p:sp>
        <p:nvSpPr>
          <p:cNvPr id="6" name="Text 4"/>
          <p:cNvSpPr txBox="1"/>
          <p:nvPr/>
        </p:nvSpPr>
        <p:spPr>
          <a:xfrm>
            <a:off x="685800" y="3886200"/>
            <a:ext cx="1737360" cy="822960"/>
          </a:xfrm>
          <a:prstGeom prst="rect">
            <a:avLst/>
          </a:prstGeom>
          <a:noFill/>
          <a:ln/>
        </p:spPr>
        <p:txBody>
          <a:bodyPr wrap="square" lIns="0" tIns="0" rIns="0" bIns="0" rtlCol="0" anchor="ctr"/>
          <a:lstStyle/>
          <a:p>
            <a:pPr indent="0" marL="0">
              <a:buNone/>
            </a:pPr>
            <a:r>
              <a:rPr lang="en-US" sz="3400" b="1" dirty="0">
                <a:solidFill>
                  <a:srgbClr val="103D3A"/>
                </a:solidFill>
                <a:latin typeface="Malgun Gothic" pitchFamily="34" charset="0"/>
                <a:ea typeface="Malgun Gothic" pitchFamily="34" charset="-122"/>
                <a:cs typeface="Malgun Gothic" pitchFamily="34" charset="-120"/>
              </a:rPr>
              <a:t>6분야</a:t>
            </a:r>
            <a:endParaRPr lang="en-US" sz="3400" dirty="0"/>
          </a:p>
        </p:txBody>
      </p:sp>
      <p:sp>
        <p:nvSpPr>
          <p:cNvPr id="7" name="Text 5"/>
          <p:cNvSpPr txBox="1"/>
          <p:nvPr/>
        </p:nvSpPr>
        <p:spPr>
          <a:xfrm>
            <a:off x="2468880" y="3886200"/>
            <a:ext cx="3931920" cy="822960"/>
          </a:xfrm>
          <a:prstGeom prst="rect">
            <a:avLst/>
          </a:prstGeom>
          <a:noFill/>
          <a:ln/>
        </p:spPr>
        <p:txBody>
          <a:bodyPr wrap="square" lIns="0" tIns="0" rIns="0" bIns="0" rtlCol="0" anchor="ctr"/>
          <a:lstStyle/>
          <a:p>
            <a:pPr indent="0" marL="0">
              <a:buNone/>
            </a:pPr>
            <a:r>
              <a:rPr lang="en-US" sz="1500" dirty="0">
                <a:solidFill>
                  <a:srgbClr val="17221F"/>
                </a:solidFill>
                <a:latin typeface="Malgun Gothic" pitchFamily="34" charset="0"/>
                <a:ea typeface="Malgun Gothic" pitchFamily="34" charset="-122"/>
                <a:cs typeface="Malgun Gothic" pitchFamily="34" charset="-120"/>
              </a:rPr>
              <a:t>K-디저트 · 편의점 떡 ·</a:t>
            </a:r>
            <a:endParaRPr lang="en-US" sz="1500" dirty="0"/>
          </a:p>
          <a:p>
            <a:pPr indent="0" marL="0">
              <a:buNone/>
            </a:pPr>
            <a:r>
              <a:rPr lang="en-US" sz="1500" dirty="0">
                <a:solidFill>
                  <a:srgbClr val="17221F"/>
                </a:solidFill>
                <a:latin typeface="Malgun Gothic" pitchFamily="34" charset="0"/>
                <a:ea typeface="Malgun Gothic" pitchFamily="34" charset="-122"/>
                <a:cs typeface="Malgun Gothic" pitchFamily="34" charset="-120"/>
              </a:rPr>
              <a:t>경쟁 브랜드 · SNS 등</a:t>
            </a:r>
            <a:endParaRPr lang="en-US" sz="1500" dirty="0"/>
          </a:p>
        </p:txBody>
      </p:sp>
      <p:sp>
        <p:nvSpPr>
          <p:cNvPr id="8" name="Shape 6"/>
          <p:cNvSpPr/>
          <p:nvPr/>
        </p:nvSpPr>
        <p:spPr>
          <a:xfrm>
            <a:off x="685800" y="5029200"/>
            <a:ext cx="5669280" cy="822960"/>
          </a:xfrm>
          <a:prstGeom prst="rect">
            <a:avLst/>
          </a:prstGeom>
          <a:solidFill>
            <a:srgbClr val="EFE2C8"/>
          </a:solidFill>
          <a:ln/>
        </p:spPr>
      </p:sp>
      <p:sp>
        <p:nvSpPr>
          <p:cNvPr id="9" name="Text 7"/>
          <p:cNvSpPr txBox="1"/>
          <p:nvPr/>
        </p:nvSpPr>
        <p:spPr>
          <a:xfrm>
            <a:off x="914400" y="5029200"/>
            <a:ext cx="5303520" cy="822960"/>
          </a:xfrm>
          <a:prstGeom prst="rect">
            <a:avLst/>
          </a:prstGeom>
          <a:noFill/>
          <a:ln/>
        </p:spPr>
        <p:txBody>
          <a:bodyPr wrap="square" lIns="0" tIns="0" rIns="0" bIns="0" rtlCol="0" anchor="ctr"/>
          <a:lstStyle/>
          <a:p>
            <a:pPr indent="0" marL="0">
              <a:buNone/>
            </a:pPr>
            <a:r>
              <a:rPr lang="en-US" sz="1350" dirty="0">
                <a:solidFill>
                  <a:srgbClr val="17221F"/>
                </a:solidFill>
                <a:latin typeface="Malgun Gothic" pitchFamily="34" charset="0"/>
                <a:ea typeface="Malgun Gothic" pitchFamily="34" charset="-122"/>
                <a:cs typeface="Malgun Gothic" pitchFamily="34" charset="-120"/>
              </a:rPr>
              <a:t>1회차(10/10) 게시 완료 · 매주 자동 조사는 예약만, 첫 자동 실행은 확인 전</a:t>
            </a:r>
            <a:endParaRPr lang="en-US" sz="1350" dirty="0"/>
          </a:p>
        </p:txBody>
      </p:sp>
      <p:sp>
        <p:nvSpPr>
          <p:cNvPr id="10" name="Shape 8"/>
          <p:cNvSpPr/>
          <p:nvPr/>
        </p:nvSpPr>
        <p:spPr>
          <a:xfrm>
            <a:off x="6858000" y="457200"/>
            <a:ext cx="4525401" cy="5715000"/>
          </a:xfrm>
          <a:prstGeom prst="rect">
            <a:avLst/>
          </a:prstGeom>
          <a:solidFill>
            <a:srgbClr val="FFFFFF"/>
          </a:solidFill>
          <a:ln w="9525">
            <a:solidFill>
              <a:srgbClr val="D9D3C5"/>
            </a:solidFill>
            <a:prstDash val="solid"/>
          </a:ln>
          <a:effectLst>
            <a:outerShdw sx="100000" sy="100000" kx="0" ky="0" algn="bl" rotWithShape="0" blurRad="127000" dist="50800" dir="5400000">
              <a:srgbClr val="000000">
                <a:alpha val="12000"/>
              </a:srgbClr>
            </a:outerShdw>
          </a:effectLst>
        </p:spPr>
      </p:sp>
      <p:pic>
        <p:nvPicPr>
          <p:cNvPr id="11" name="Image 0" descr="떡기리 프로그램 화면">    </p:cNvPr>
          <p:cNvPicPr>
            <a:picLocks noChangeAspect="1"/>
          </p:cNvPicPr>
          <p:nvPr/>
        </p:nvPicPr>
        <p:blipFill>
          <a:blip r:embed="rId1"/>
          <a:stretch>
            <a:fillRect/>
          </a:stretch>
        </p:blipFill>
        <p:spPr>
          <a:xfrm>
            <a:off x="6903720" y="502920"/>
            <a:ext cx="4433961" cy="5623560"/>
          </a:xfrm>
          <a:prstGeom prst="rect">
            <a:avLst/>
          </a:prstGeom>
        </p:spPr>
      </p:pic>
      <p:sp>
        <p:nvSpPr>
          <p:cNvPr id="12" name="Text 9"/>
          <p:cNvSpPr txBox="1"/>
          <p:nvPr/>
        </p:nvSpPr>
        <p:spPr>
          <a:xfrm>
            <a:off x="8252020" y="6236208"/>
            <a:ext cx="1737360" cy="274320"/>
          </a:xfrm>
          <a:prstGeom prst="roundRect">
            <a:avLst>
              <a:gd name="adj" fmla="val 50000"/>
            </a:avLst>
          </a:prstGeom>
          <a:solidFill>
            <a:srgbClr val="1E4A44"/>
          </a:solid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실제 게시 자료 화면</a:t>
            </a:r>
            <a:endParaRPr lang="en-US" sz="1050" dirty="0"/>
          </a:p>
        </p:txBody>
      </p:sp>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85800" y="548640"/>
            <a:ext cx="6400800" cy="320040"/>
          </a:xfrm>
          <a:prstGeom prst="rect">
            <a:avLst/>
          </a:prstGeom>
          <a:noFill/>
          <a:ln/>
        </p:spPr>
        <p:txBody>
          <a:bodyPr wrap="square" lIns="0" tIns="0" rIns="0" bIns="0" rtlCol="0" anchor="t"/>
          <a:lstStyle/>
          <a:p>
            <a:pPr indent="0" marL="0">
              <a:buNone/>
            </a:pPr>
            <a:r>
              <a:rPr lang="en-US" sz="1400" b="1" spc="100" kern="0" dirty="0">
                <a:solidFill>
                  <a:srgbClr val="C9A46A"/>
                </a:solidFill>
                <a:latin typeface="Malgun Gothic" pitchFamily="34" charset="0"/>
                <a:ea typeface="Malgun Gothic" pitchFamily="34" charset="-122"/>
                <a:cs typeface="Malgun Gothic" pitchFamily="34" charset="-120"/>
              </a:rPr>
              <a:t>별도 프로그램 · 콘텐츠 변환 도구</a:t>
            </a:r>
            <a:endParaRPr lang="en-US" sz="1400" dirty="0"/>
          </a:p>
        </p:txBody>
      </p:sp>
      <p:sp>
        <p:nvSpPr>
          <p:cNvPr id="3" name="Text 1"/>
          <p:cNvSpPr txBox="1"/>
          <p:nvPr/>
        </p:nvSpPr>
        <p:spPr>
          <a:xfrm>
            <a:off x="685800" y="868680"/>
            <a:ext cx="10515600" cy="731520"/>
          </a:xfrm>
          <a:prstGeom prst="rect">
            <a:avLst/>
          </a:prstGeom>
          <a:noFill/>
          <a:ln/>
        </p:spPr>
        <p:txBody>
          <a:bodyPr wrap="square" lIns="0" tIns="0" rIns="0" bIns="0" rtlCol="0" anchor="t"/>
          <a:lstStyle/>
          <a:p>
            <a:pPr indent="0" marL="0">
              <a:buNone/>
            </a:pPr>
            <a:r>
              <a:rPr lang="en-US" sz="3200" b="1" dirty="0">
                <a:solidFill>
                  <a:srgbClr val="17221F"/>
                </a:solidFill>
                <a:latin typeface="Malgun Gothic" pitchFamily="34" charset="0"/>
                <a:ea typeface="Malgun Gothic" pitchFamily="34" charset="-122"/>
                <a:cs typeface="Malgun Gothic" pitchFamily="34" charset="-120"/>
              </a:rPr>
              <a:t>인스타그램 글을, 스레드 말투로</a:t>
            </a:r>
            <a:endParaRPr lang="en-US" sz="3200" dirty="0"/>
          </a:p>
        </p:txBody>
      </p:sp>
      <p:sp>
        <p:nvSpPr>
          <p:cNvPr id="4" name="Text 2"/>
          <p:cNvSpPr txBox="1"/>
          <p:nvPr/>
        </p:nvSpPr>
        <p:spPr>
          <a:xfrm>
            <a:off x="685800" y="1508760"/>
            <a:ext cx="10515600" cy="365760"/>
          </a:xfrm>
          <a:prstGeom prst="rect">
            <a:avLst/>
          </a:prstGeom>
          <a:noFill/>
          <a:ln/>
        </p:spPr>
        <p:txBody>
          <a:bodyPr wrap="square" lIns="0" tIns="0" rIns="0" bIns="0" rtlCol="0" anchor="t"/>
          <a:lstStyle/>
          <a:p>
            <a:pPr indent="0" marL="0">
              <a:buNone/>
            </a:pPr>
            <a:r>
              <a:rPr lang="en-US" sz="1500" b="1" dirty="0">
                <a:solidFill>
                  <a:srgbClr val="103D3A"/>
                </a:solidFill>
                <a:latin typeface="Malgun Gothic" pitchFamily="34" charset="0"/>
                <a:ea typeface="Malgun Gothic" pitchFamily="34" charset="-122"/>
                <a:cs typeface="Malgun Gothic" pitchFamily="34" charset="-120"/>
              </a:rPr>
              <a:t>주제 입력  →  프롬프트 생성  →  ChatGPT·Claude에 붙여넣기  →  인스타·스레드 글</a:t>
            </a:r>
            <a:endParaRPr lang="en-US" sz="1500" dirty="0"/>
          </a:p>
        </p:txBody>
      </p:sp>
      <p:sp>
        <p:nvSpPr>
          <p:cNvPr id="5" name="Shape 3"/>
          <p:cNvSpPr/>
          <p:nvPr/>
        </p:nvSpPr>
        <p:spPr>
          <a:xfrm>
            <a:off x="640080" y="1828800"/>
            <a:ext cx="4937760" cy="4056611"/>
          </a:xfrm>
          <a:prstGeom prst="rect">
            <a:avLst/>
          </a:prstGeom>
          <a:solidFill>
            <a:srgbClr val="FFFFFF"/>
          </a:solidFill>
          <a:ln w="9525">
            <a:solidFill>
              <a:srgbClr val="D9D3C5"/>
            </a:solidFill>
            <a:prstDash val="solid"/>
          </a:ln>
          <a:effectLst>
            <a:outerShdw sx="100000" sy="100000" kx="0" ky="0" algn="bl" rotWithShape="0" blurRad="127000" dist="50800" dir="5400000">
              <a:srgbClr val="000000">
                <a:alpha val="12000"/>
              </a:srgbClr>
            </a:outerShdw>
          </a:effectLst>
        </p:spPr>
      </p:sp>
      <p:pic>
        <p:nvPicPr>
          <p:cNvPr id="6" name="Image 0" descr="떡기리 발표 이미지">    </p:cNvPr>
          <p:cNvPicPr>
            <a:picLocks noChangeAspect="1"/>
          </p:cNvPicPr>
          <p:nvPr/>
        </p:nvPicPr>
        <p:blipFill>
          <a:blip r:embed="rId1"/>
          <a:stretch>
            <a:fillRect/>
          </a:stretch>
        </p:blipFill>
        <p:spPr>
          <a:xfrm>
            <a:off x="685800" y="1874520"/>
            <a:ext cx="4846320" cy="3965171"/>
          </a:xfrm>
          <a:prstGeom prst="rect">
            <a:avLst/>
          </a:prstGeom>
        </p:spPr>
      </p:pic>
      <p:sp>
        <p:nvSpPr>
          <p:cNvPr id="7" name="Text 4"/>
          <p:cNvSpPr txBox="1"/>
          <p:nvPr/>
        </p:nvSpPr>
        <p:spPr>
          <a:xfrm>
            <a:off x="685800" y="5989320"/>
            <a:ext cx="2743200" cy="274320"/>
          </a:xfrm>
          <a:prstGeom prst="roundRect">
            <a:avLst>
              <a:gd name="adj" fmla="val 50000"/>
            </a:avLst>
          </a:prstGeom>
          <a:solidFill>
            <a:srgbClr val="1E4A44"/>
          </a:solid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콘텐츠 변환기 · 프롬프트 생성 화면</a:t>
            </a:r>
            <a:endParaRPr lang="en-US" sz="1050" dirty="0"/>
          </a:p>
        </p:txBody>
      </p:sp>
      <p:sp>
        <p:nvSpPr>
          <p:cNvPr id="8" name="Shape 5"/>
          <p:cNvSpPr/>
          <p:nvPr/>
        </p:nvSpPr>
        <p:spPr>
          <a:xfrm>
            <a:off x="5897880" y="1828800"/>
            <a:ext cx="2697480" cy="3977640"/>
          </a:xfrm>
          <a:prstGeom prst="rect">
            <a:avLst/>
          </a:prstGeom>
          <a:solidFill>
            <a:srgbClr val="FFFFFF"/>
          </a:solidFill>
          <a:ln w="9525">
            <a:solidFill>
              <a:srgbClr val="D9D3C5"/>
            </a:solidFill>
            <a:prstDash val="solid"/>
          </a:ln>
        </p:spPr>
      </p:sp>
      <p:sp>
        <p:nvSpPr>
          <p:cNvPr id="9" name="Text 6"/>
          <p:cNvSpPr txBox="1"/>
          <p:nvPr/>
        </p:nvSpPr>
        <p:spPr>
          <a:xfrm>
            <a:off x="6080760" y="1965960"/>
            <a:ext cx="2377440" cy="320040"/>
          </a:xfrm>
          <a:prstGeom prst="rect">
            <a:avLst/>
          </a:prstGeom>
          <a:noFill/>
          <a:ln/>
        </p:spPr>
        <p:txBody>
          <a:bodyPr wrap="square" lIns="0" tIns="0" rIns="0" bIns="0" rtlCol="0" anchor="t"/>
          <a:lstStyle/>
          <a:p>
            <a:pPr indent="0" marL="0">
              <a:buNone/>
            </a:pPr>
            <a:r>
              <a:rPr lang="en-US" sz="1300" b="1" dirty="0">
                <a:solidFill>
                  <a:srgbClr val="77746B"/>
                </a:solidFill>
                <a:latin typeface="Malgun Gothic" pitchFamily="34" charset="0"/>
                <a:ea typeface="Malgun Gothic" pitchFamily="34" charset="-122"/>
                <a:cs typeface="Malgun Gothic" pitchFamily="34" charset="-120"/>
              </a:rPr>
              <a:t>인스타그램</a:t>
            </a:r>
            <a:endParaRPr lang="en-US" sz="1300" dirty="0"/>
          </a:p>
        </p:txBody>
      </p:sp>
      <p:sp>
        <p:nvSpPr>
          <p:cNvPr id="10" name="Text 7"/>
          <p:cNvSpPr txBox="1"/>
          <p:nvPr/>
        </p:nvSpPr>
        <p:spPr>
          <a:xfrm>
            <a:off x="6080760" y="2331720"/>
            <a:ext cx="2377440" cy="3383280"/>
          </a:xfrm>
          <a:prstGeom prst="rect">
            <a:avLst/>
          </a:prstGeom>
          <a:noFill/>
          <a:ln/>
        </p:spPr>
        <p:txBody>
          <a:bodyPr wrap="square" lIns="0" tIns="0" rIns="0" bIns="0" rtlCol="0" anchor="t"/>
          <a:lstStyle/>
          <a:p>
            <a:pPr indent="0" marL="0">
              <a:lnSpc>
                <a:spcPct val="120000"/>
              </a:lnSpc>
              <a:buNone/>
            </a:pPr>
            <a:r>
              <a:rPr lang="en-US" sz="1350" dirty="0">
                <a:solidFill>
                  <a:srgbClr val="17221F"/>
                </a:solidFill>
                <a:latin typeface="Malgun Gothic" pitchFamily="34" charset="0"/>
                <a:ea typeface="Malgun Gothic" pitchFamily="34" charset="-122"/>
                <a:cs typeface="Malgun Gothic" pitchFamily="34" charset="-120"/>
              </a:rPr>
              <a:t>떡 선물,</a:t>
            </a:r>
            <a:endParaRPr lang="en-US" sz="1350" dirty="0"/>
          </a:p>
          <a:p>
            <a:pPr indent="0" marL="0">
              <a:lnSpc>
                <a:spcPct val="120000"/>
              </a:lnSpc>
              <a:buNone/>
            </a:pPr>
            <a:r>
              <a:rPr lang="en-US" sz="1350" dirty="0">
                <a:solidFill>
                  <a:srgbClr val="17221F"/>
                </a:solidFill>
                <a:latin typeface="Malgun Gothic" pitchFamily="34" charset="0"/>
                <a:ea typeface="Malgun Gothic" pitchFamily="34" charset="-122"/>
                <a:cs typeface="Malgun Gothic" pitchFamily="34" charset="-120"/>
              </a:rPr>
              <a:t>아직도 고민되시나요.</a:t>
            </a:r>
            <a:endParaRPr lang="en-US" sz="1350" dirty="0"/>
          </a:p>
          <a:p>
            <a:pPr indent="0" marL="0">
              <a:lnSpc>
                <a:spcPct val="120000"/>
              </a:lnSpc>
              <a:buNone/>
            </a:pPr>
            <a:r>
              <a:rPr lang="en-US" sz="1350" dirty="0">
                <a:solidFill>
                  <a:srgbClr val="17221F"/>
                </a:solidFill>
                <a:latin typeface="Malgun Gothic" pitchFamily="34" charset="0"/>
                <a:ea typeface="Malgun Gothic" pitchFamily="34" charset="-122"/>
                <a:cs typeface="Malgun Gothic" pitchFamily="34" charset="-120"/>
              </a:rPr>
              <a:t>3대째 이어온 방앗간에서, 무방부제 원칙으로 빚습니다.</a:t>
            </a:r>
            <a:endParaRPr lang="en-US" sz="1350" dirty="0"/>
          </a:p>
          <a:p>
            <a:pPr indent="0" marL="0">
              <a:lnSpc>
                <a:spcPct val="120000"/>
              </a:lnSpc>
              <a:buNone/>
            </a:pPr>
            <a:r>
              <a:rPr lang="en-US" sz="1350" dirty="0">
                <a:solidFill>
                  <a:srgbClr val="17221F"/>
                </a:solidFill>
                <a:latin typeface="Malgun Gothic" pitchFamily="34" charset="0"/>
                <a:ea typeface="Malgun Gothic" pitchFamily="34" charset="-122"/>
                <a:cs typeface="Malgun Gothic" pitchFamily="34" charset="-120"/>
              </a:rPr>
              <a:t>어른께 드릴 선물이 필요하시다면, 저장해두세요.</a:t>
            </a:r>
            <a:endParaRPr lang="en-US" sz="1350" dirty="0"/>
          </a:p>
        </p:txBody>
      </p:sp>
      <p:sp>
        <p:nvSpPr>
          <p:cNvPr id="11" name="Text 8"/>
          <p:cNvSpPr txBox="1"/>
          <p:nvPr/>
        </p:nvSpPr>
        <p:spPr>
          <a:xfrm>
            <a:off x="8595360" y="3520440"/>
            <a:ext cx="365760" cy="548640"/>
          </a:xfrm>
          <a:prstGeom prst="rect">
            <a:avLst/>
          </a:prstGeom>
          <a:noFill/>
          <a:ln/>
        </p:spPr>
        <p:txBody>
          <a:bodyPr wrap="square" lIns="0" tIns="0" rIns="0" bIns="0" rtlCol="0" anchor="ctr"/>
          <a:lstStyle/>
          <a:p>
            <a:pPr algn="ctr" indent="0" marL="0">
              <a:buNone/>
            </a:pPr>
            <a:r>
              <a:rPr lang="en-US" sz="2400" b="1" dirty="0">
                <a:solidFill>
                  <a:srgbClr val="C9A46A"/>
                </a:solidFill>
                <a:latin typeface="Malgun Gothic" pitchFamily="34" charset="0"/>
                <a:ea typeface="Malgun Gothic" pitchFamily="34" charset="-122"/>
                <a:cs typeface="Malgun Gothic" pitchFamily="34" charset="-120"/>
              </a:rPr>
              <a:t>→</a:t>
            </a:r>
            <a:endParaRPr lang="en-US" sz="2400" dirty="0"/>
          </a:p>
        </p:txBody>
      </p:sp>
      <p:sp>
        <p:nvSpPr>
          <p:cNvPr id="12" name="Shape 9"/>
          <p:cNvSpPr/>
          <p:nvPr/>
        </p:nvSpPr>
        <p:spPr>
          <a:xfrm>
            <a:off x="8961120" y="1828800"/>
            <a:ext cx="2697480" cy="3977640"/>
          </a:xfrm>
          <a:prstGeom prst="rect">
            <a:avLst/>
          </a:prstGeom>
          <a:solidFill>
            <a:srgbClr val="103D3A"/>
          </a:solidFill>
          <a:ln/>
        </p:spPr>
      </p:sp>
      <p:sp>
        <p:nvSpPr>
          <p:cNvPr id="13" name="Text 10"/>
          <p:cNvSpPr txBox="1"/>
          <p:nvPr/>
        </p:nvSpPr>
        <p:spPr>
          <a:xfrm>
            <a:off x="9144000" y="1965960"/>
            <a:ext cx="2377440" cy="320040"/>
          </a:xfrm>
          <a:prstGeom prst="rect">
            <a:avLst/>
          </a:prstGeom>
          <a:noFill/>
          <a:ln/>
        </p:spPr>
        <p:txBody>
          <a:bodyPr wrap="square" lIns="0" tIns="0" rIns="0" bIns="0" rtlCol="0" anchor="t"/>
          <a:lstStyle/>
          <a:p>
            <a:pPr indent="0" marL="0">
              <a:buNone/>
            </a:pPr>
            <a:r>
              <a:rPr lang="en-US" sz="1300" b="1" dirty="0">
                <a:solidFill>
                  <a:srgbClr val="C9A46A"/>
                </a:solidFill>
                <a:latin typeface="Malgun Gothic" pitchFamily="34" charset="0"/>
                <a:ea typeface="Malgun Gothic" pitchFamily="34" charset="-122"/>
                <a:cs typeface="Malgun Gothic" pitchFamily="34" charset="-120"/>
              </a:rPr>
              <a:t>스레드 · 사장님 말투</a:t>
            </a:r>
            <a:endParaRPr lang="en-US" sz="1300" dirty="0"/>
          </a:p>
        </p:txBody>
      </p:sp>
      <p:sp>
        <p:nvSpPr>
          <p:cNvPr id="14" name="Text 11"/>
          <p:cNvSpPr txBox="1"/>
          <p:nvPr/>
        </p:nvSpPr>
        <p:spPr>
          <a:xfrm>
            <a:off x="9144000" y="2331720"/>
            <a:ext cx="2377440" cy="3383280"/>
          </a:xfrm>
          <a:prstGeom prst="rect">
            <a:avLst/>
          </a:prstGeom>
          <a:noFill/>
          <a:ln/>
        </p:spPr>
        <p:txBody>
          <a:bodyPr wrap="square" lIns="0" tIns="0" rIns="0" bIns="0" rtlCol="0" anchor="t"/>
          <a:lstStyle/>
          <a:p>
            <a:pPr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요즘 어른들 선물, 뭘 드려야 할지 고민 많으시죠. 저희도 그 마음 알아서 포장 하나하나 신경 씁니다. 3대째 이어온 방앗간에서 무첨가 원칙으로 빚은 떡이에요.</a:t>
            </a:r>
            <a:endParaRPr lang="en-US" sz="1350" dirty="0"/>
          </a:p>
        </p:txBody>
      </p:sp>
      <p:sp>
        <p:nvSpPr>
          <p:cNvPr id="15" name="Text 12"/>
          <p:cNvSpPr txBox="1"/>
          <p:nvPr/>
        </p:nvSpPr>
        <p:spPr>
          <a:xfrm>
            <a:off x="5897880" y="5989320"/>
            <a:ext cx="3291840" cy="274320"/>
          </a:xfrm>
          <a:prstGeom prst="roundRect">
            <a:avLst>
              <a:gd name="adj" fmla="val 50000"/>
            </a:avLst>
          </a:prstGeom>
          <a:solidFill>
            <a:srgbClr val="EFE2C8"/>
          </a:solidFill>
          <a:ln/>
        </p:spPr>
        <p:txBody>
          <a:bodyPr wrap="square" lIns="0" tIns="0" rIns="0" bIns="0" rtlCol="0" anchor="ctr"/>
          <a:lstStyle/>
          <a:p>
            <a:pPr algn="ctr" indent="0" marL="0">
              <a:buNone/>
            </a:pPr>
            <a:r>
              <a:rPr lang="en-US" sz="1050" b="1" dirty="0">
                <a:solidFill>
                  <a:srgbClr val="17221F"/>
                </a:solidFill>
                <a:latin typeface="Malgun Gothic" pitchFamily="34" charset="0"/>
                <a:ea typeface="Malgun Gothic" pitchFamily="34" charset="-122"/>
                <a:cs typeface="Malgun Gothic" pitchFamily="34" charset="-120"/>
              </a:rPr>
              <a:t>붙여넣어 받은 글 예시 · 일부 표현 다듬음</a:t>
            </a:r>
            <a:endParaRPr lang="en-US" sz="1050" dirty="0"/>
          </a:p>
        </p:txBody>
      </p:sp>
      <p:sp>
        <p:nvSpPr>
          <p:cNvPr id="16" name="Shape 13"/>
          <p:cNvSpPr/>
          <p:nvPr/>
        </p:nvSpPr>
        <p:spPr>
          <a:xfrm>
            <a:off x="8961120" y="6400800"/>
            <a:ext cx="1188720" cy="41148"/>
          </a:xfrm>
          <a:prstGeom prst="rect">
            <a:avLst/>
          </a:prstGeom>
          <a:solidFill>
            <a:srgbClr val="103D3A"/>
          </a:solidFill>
          <a:ln/>
        </p:spPr>
      </p:sp>
      <p:sp>
        <p:nvSpPr>
          <p:cNvPr id="17" name="Shape 14"/>
          <p:cNvSpPr/>
          <p:nvPr/>
        </p:nvSpPr>
        <p:spPr>
          <a:xfrm>
            <a:off x="10149840" y="6420917"/>
            <a:ext cx="1508760" cy="0"/>
          </a:xfrm>
          <a:prstGeom prst="line">
            <a:avLst/>
          </a:prstGeom>
          <a:noFill/>
          <a:ln w="9525">
            <a:solidFill>
              <a:srgbClr val="D9D3C5"/>
            </a:solidFill>
            <a:prstDash val="solid"/>
          </a:ln>
        </p:spPr>
      </p:sp>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85800" y="548640"/>
            <a:ext cx="6400800" cy="320040"/>
          </a:xfrm>
          <a:prstGeom prst="rect">
            <a:avLst/>
          </a:prstGeom>
          <a:noFill/>
          <a:ln/>
        </p:spPr>
        <p:txBody>
          <a:bodyPr wrap="square" lIns="0" tIns="0" rIns="0" bIns="0" rtlCol="0" anchor="t"/>
          <a:lstStyle/>
          <a:p>
            <a:pPr indent="0" marL="0">
              <a:buNone/>
            </a:pPr>
            <a:r>
              <a:rPr lang="en-US" sz="1400" b="1" spc="100" kern="0" dirty="0">
                <a:solidFill>
                  <a:srgbClr val="C9A46A"/>
                </a:solidFill>
                <a:latin typeface="Malgun Gothic" pitchFamily="34" charset="0"/>
                <a:ea typeface="Malgun Gothic" pitchFamily="34" charset="-122"/>
                <a:cs typeface="Malgun Gothic" pitchFamily="34" charset="-120"/>
              </a:rPr>
              <a:t>별도 프로그램 · 브랜드 홈페이지</a:t>
            </a:r>
            <a:endParaRPr lang="en-US" sz="1400" dirty="0"/>
          </a:p>
        </p:txBody>
      </p:sp>
      <p:sp>
        <p:nvSpPr>
          <p:cNvPr id="3" name="Text 1"/>
          <p:cNvSpPr txBox="1"/>
          <p:nvPr/>
        </p:nvSpPr>
        <p:spPr>
          <a:xfrm>
            <a:off x="685800" y="868680"/>
            <a:ext cx="10515600" cy="731520"/>
          </a:xfrm>
          <a:prstGeom prst="rect">
            <a:avLst/>
          </a:prstGeom>
          <a:noFill/>
          <a:ln/>
        </p:spPr>
        <p:txBody>
          <a:bodyPr wrap="square" lIns="0" tIns="0" rIns="0" bIns="0" rtlCol="0" anchor="t"/>
          <a:lstStyle/>
          <a:p>
            <a:pPr indent="0" marL="0">
              <a:buNone/>
            </a:pPr>
            <a:r>
              <a:rPr lang="en-US" sz="3200" b="1" dirty="0">
                <a:solidFill>
                  <a:srgbClr val="17221F"/>
                </a:solidFill>
                <a:latin typeface="Malgun Gothic" pitchFamily="34" charset="0"/>
                <a:ea typeface="Malgun Gothic" pitchFamily="34" charset="-122"/>
                <a:cs typeface="Malgun Gothic" pitchFamily="34" charset="-120"/>
              </a:rPr>
              <a:t>고객이 만나는 떡기리도, AI와 직접</a:t>
            </a:r>
            <a:endParaRPr lang="en-US" sz="3200" dirty="0"/>
          </a:p>
        </p:txBody>
      </p:sp>
      <p:sp>
        <p:nvSpPr>
          <p:cNvPr id="4" name="Shape 2"/>
          <p:cNvSpPr/>
          <p:nvPr/>
        </p:nvSpPr>
        <p:spPr>
          <a:xfrm>
            <a:off x="640080" y="1783080"/>
            <a:ext cx="7680960" cy="4834890"/>
          </a:xfrm>
          <a:prstGeom prst="rect">
            <a:avLst/>
          </a:prstGeom>
          <a:solidFill>
            <a:srgbClr val="FFFFFF"/>
          </a:solidFill>
          <a:ln w="9525">
            <a:solidFill>
              <a:srgbClr val="D9D3C5"/>
            </a:solidFill>
            <a:prstDash val="solid"/>
          </a:ln>
          <a:effectLst>
            <a:outerShdw sx="100000" sy="100000" kx="0" ky="0" algn="bl" rotWithShape="0" blurRad="127000" dist="50800" dir="5400000">
              <a:srgbClr val="000000">
                <a:alpha val="12000"/>
              </a:srgbClr>
            </a:outerShdw>
          </a:effectLst>
        </p:spPr>
      </p:sp>
      <p:pic>
        <p:nvPicPr>
          <p:cNvPr id="5" name="Image 0" descr="떡기리 발표 이미지">
            <a:hlinkClick r:id="rId2" tooltip="https://ddeokgiri-v2.vercel.app/"/>
          </p:cNvPr>
          <p:cNvPicPr>
            <a:picLocks noChangeAspect="1"/>
          </p:cNvPicPr>
          <p:nvPr/>
        </p:nvPicPr>
        <p:blipFill>
          <a:blip r:embed="rId1"/>
          <a:stretch>
            <a:fillRect/>
          </a:stretch>
        </p:blipFill>
        <p:spPr>
          <a:xfrm>
            <a:off x="685800" y="1828800"/>
            <a:ext cx="7589520" cy="4743450"/>
          </a:xfrm>
          <a:prstGeom prst="rect">
            <a:avLst/>
          </a:prstGeom>
        </p:spPr>
      </p:pic>
      <p:sp>
        <p:nvSpPr>
          <p:cNvPr id="6" name="Text 3"/>
          <p:cNvSpPr txBox="1"/>
          <p:nvPr/>
        </p:nvSpPr>
        <p:spPr>
          <a:xfrm>
            <a:off x="685800" y="6263640"/>
            <a:ext cx="1737360" cy="274320"/>
          </a:xfrm>
          <a:prstGeom prst="roundRect">
            <a:avLst>
              <a:gd name="adj" fmla="val 50000"/>
            </a:avLst>
          </a:prstGeom>
          <a:solidFill>
            <a:srgbClr val="1E4A44"/>
          </a:solid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실제 홈페이지 화면</a:t>
            </a:r>
            <a:endParaRPr lang="en-US" sz="1050" dirty="0"/>
          </a:p>
        </p:txBody>
      </p:sp>
      <p:sp>
        <p:nvSpPr>
          <p:cNvPr id="7" name="Shape 4"/>
          <p:cNvSpPr/>
          <p:nvPr/>
        </p:nvSpPr>
        <p:spPr>
          <a:xfrm>
            <a:off x="8641080" y="1828800"/>
            <a:ext cx="3017520" cy="640080"/>
          </a:xfrm>
          <a:prstGeom prst="rect">
            <a:avLst/>
          </a:prstGeom>
          <a:solidFill>
            <a:srgbClr val="103D3A"/>
          </a:solidFill>
          <a:ln/>
        </p:spPr>
      </p:sp>
      <p:sp>
        <p:nvSpPr>
          <p:cNvPr id="8" name="Text 5"/>
          <p:cNvSpPr txBox="1"/>
          <p:nvPr/>
        </p:nvSpPr>
        <p:spPr>
          <a:xfrm>
            <a:off x="8869680" y="1828800"/>
            <a:ext cx="2743200" cy="640080"/>
          </a:xfrm>
          <a:prstGeom prst="rect">
            <a:avLst/>
          </a:prstGeom>
          <a:noFill/>
          <a:ln/>
        </p:spPr>
        <p:txBody>
          <a:bodyPr wrap="square" lIns="0" tIns="0" rIns="0" bIns="0" rtlCol="0" anchor="ctr"/>
          <a:lstStyle/>
          <a:p>
            <a:pPr indent="0" marL="0">
              <a:buNone/>
            </a:pPr>
            <a:r>
              <a:rPr lang="en-US" sz="1800" b="1" dirty="0">
                <a:solidFill>
                  <a:srgbClr val="FFFFFF"/>
                </a:solidFill>
                <a:latin typeface="Malgun Gothic" pitchFamily="34" charset="0"/>
                <a:ea typeface="Malgun Gothic" pitchFamily="34" charset="-122"/>
                <a:cs typeface="Malgun Gothic" pitchFamily="34" charset="-120"/>
              </a:rPr>
              <a:t>브랜드 이야기</a:t>
            </a:r>
            <a:endParaRPr lang="en-US" sz="1800" dirty="0"/>
          </a:p>
        </p:txBody>
      </p:sp>
      <p:sp>
        <p:nvSpPr>
          <p:cNvPr id="9" name="Shape 6"/>
          <p:cNvSpPr/>
          <p:nvPr/>
        </p:nvSpPr>
        <p:spPr>
          <a:xfrm>
            <a:off x="8641080" y="2606040"/>
            <a:ext cx="3017520" cy="640080"/>
          </a:xfrm>
          <a:prstGeom prst="rect">
            <a:avLst/>
          </a:prstGeom>
          <a:solidFill>
            <a:srgbClr val="FFFFFF"/>
          </a:solidFill>
          <a:ln w="9525">
            <a:solidFill>
              <a:srgbClr val="D9D3C5"/>
            </a:solidFill>
            <a:prstDash val="solid"/>
          </a:ln>
        </p:spPr>
      </p:sp>
      <p:sp>
        <p:nvSpPr>
          <p:cNvPr id="10" name="Text 7"/>
          <p:cNvSpPr txBox="1"/>
          <p:nvPr/>
        </p:nvSpPr>
        <p:spPr>
          <a:xfrm>
            <a:off x="8869680" y="2606040"/>
            <a:ext cx="2743200" cy="640080"/>
          </a:xfrm>
          <a:prstGeom prst="rect">
            <a:avLst/>
          </a:prstGeom>
          <a:noFill/>
          <a:ln/>
        </p:spPr>
        <p:txBody>
          <a:bodyPr wrap="square" lIns="0" tIns="0" rIns="0" bIns="0" rtlCol="0" anchor="ctr"/>
          <a:lstStyle/>
          <a:p>
            <a:pPr indent="0" marL="0">
              <a:buNone/>
            </a:pPr>
            <a:r>
              <a:rPr lang="en-US" sz="1800" b="1" dirty="0">
                <a:solidFill>
                  <a:srgbClr val="103D3A"/>
                </a:solidFill>
                <a:latin typeface="Malgun Gothic" pitchFamily="34" charset="0"/>
                <a:ea typeface="Malgun Gothic" pitchFamily="34" charset="-122"/>
                <a:cs typeface="Malgun Gothic" pitchFamily="34" charset="-120"/>
              </a:rPr>
              <a:t>대표 상품</a:t>
            </a:r>
            <a:endParaRPr lang="en-US" sz="1800" dirty="0"/>
          </a:p>
        </p:txBody>
      </p:sp>
      <p:sp>
        <p:nvSpPr>
          <p:cNvPr id="11" name="Shape 8"/>
          <p:cNvSpPr/>
          <p:nvPr/>
        </p:nvSpPr>
        <p:spPr>
          <a:xfrm>
            <a:off x="8641080" y="3383280"/>
            <a:ext cx="3017520" cy="640080"/>
          </a:xfrm>
          <a:prstGeom prst="rect">
            <a:avLst/>
          </a:prstGeom>
          <a:solidFill>
            <a:srgbClr val="FFFFFF"/>
          </a:solidFill>
          <a:ln w="9525">
            <a:solidFill>
              <a:srgbClr val="D9D3C5"/>
            </a:solidFill>
            <a:prstDash val="solid"/>
          </a:ln>
        </p:spPr>
      </p:sp>
      <p:sp>
        <p:nvSpPr>
          <p:cNvPr id="12" name="Text 9"/>
          <p:cNvSpPr txBox="1"/>
          <p:nvPr/>
        </p:nvSpPr>
        <p:spPr>
          <a:xfrm>
            <a:off x="8869680" y="3383280"/>
            <a:ext cx="2743200" cy="640080"/>
          </a:xfrm>
          <a:prstGeom prst="rect">
            <a:avLst/>
          </a:prstGeom>
          <a:noFill/>
          <a:ln/>
        </p:spPr>
        <p:txBody>
          <a:bodyPr wrap="square" lIns="0" tIns="0" rIns="0" bIns="0" rtlCol="0" anchor="ctr"/>
          <a:lstStyle/>
          <a:p>
            <a:pPr indent="0" marL="0">
              <a:buNone/>
            </a:pPr>
            <a:r>
              <a:rPr lang="en-US" sz="1800" b="1" dirty="0">
                <a:solidFill>
                  <a:srgbClr val="103D3A"/>
                </a:solidFill>
                <a:latin typeface="Malgun Gothic" pitchFamily="34" charset="0"/>
                <a:ea typeface="Malgun Gothic" pitchFamily="34" charset="-122"/>
                <a:cs typeface="Malgun Gothic" pitchFamily="34" charset="-120"/>
              </a:rPr>
              <a:t>선물세트</a:t>
            </a:r>
            <a:endParaRPr lang="en-US" sz="1800" dirty="0"/>
          </a:p>
        </p:txBody>
      </p:sp>
      <p:sp>
        <p:nvSpPr>
          <p:cNvPr id="13" name="Shape 10"/>
          <p:cNvSpPr/>
          <p:nvPr/>
        </p:nvSpPr>
        <p:spPr>
          <a:xfrm>
            <a:off x="8641080" y="4160520"/>
            <a:ext cx="3017520" cy="640080"/>
          </a:xfrm>
          <a:prstGeom prst="rect">
            <a:avLst/>
          </a:prstGeom>
          <a:solidFill>
            <a:srgbClr val="FFFFFF"/>
          </a:solidFill>
          <a:ln w="9525">
            <a:solidFill>
              <a:srgbClr val="D9D3C5"/>
            </a:solidFill>
            <a:prstDash val="solid"/>
          </a:ln>
        </p:spPr>
      </p:sp>
      <p:sp>
        <p:nvSpPr>
          <p:cNvPr id="14" name="Text 11"/>
          <p:cNvSpPr txBox="1"/>
          <p:nvPr/>
        </p:nvSpPr>
        <p:spPr>
          <a:xfrm>
            <a:off x="8869680" y="4160520"/>
            <a:ext cx="2743200" cy="640080"/>
          </a:xfrm>
          <a:prstGeom prst="rect">
            <a:avLst/>
          </a:prstGeom>
          <a:noFill/>
          <a:ln/>
        </p:spPr>
        <p:txBody>
          <a:bodyPr wrap="square" lIns="0" tIns="0" rIns="0" bIns="0" rtlCol="0" anchor="ctr"/>
          <a:lstStyle/>
          <a:p>
            <a:pPr indent="0" marL="0">
              <a:buNone/>
            </a:pPr>
            <a:r>
              <a:rPr lang="en-US" sz="1800" b="1" dirty="0">
                <a:solidFill>
                  <a:srgbClr val="103D3A"/>
                </a:solidFill>
                <a:latin typeface="Malgun Gothic" pitchFamily="34" charset="0"/>
                <a:ea typeface="Malgun Gothic" pitchFamily="34" charset="-122"/>
                <a:cs typeface="Malgun Gothic" pitchFamily="34" charset="-120"/>
              </a:rPr>
              <a:t>매장 안내</a:t>
            </a:r>
            <a:endParaRPr lang="en-US" sz="1800" dirty="0"/>
          </a:p>
        </p:txBody>
      </p:sp>
      <p:sp>
        <p:nvSpPr>
          <p:cNvPr id="15" name="Text 12"/>
          <p:cNvSpPr txBox="1"/>
          <p:nvPr/>
        </p:nvSpPr>
        <p:spPr>
          <a:xfrm>
            <a:off x="8641080" y="5029200"/>
            <a:ext cx="3017520" cy="548640"/>
          </a:xfrm>
          <a:prstGeom prst="rect">
            <a:avLst/>
          </a:prstGeom>
          <a:noFill/>
          <a:ln/>
        </p:spPr>
        <p:txBody>
          <a:bodyPr wrap="square" lIns="0" tIns="0" rIns="0" bIns="0" rtlCol="0" anchor="t"/>
          <a:lstStyle/>
          <a:p>
            <a:pPr indent="0" marL="0">
              <a:buNone/>
            </a:pPr>
            <a:r>
              <a:rPr lang="en-US" sz="1300" dirty="0">
                <a:solidFill>
                  <a:srgbClr val="77746B"/>
                </a:solidFill>
                <a:latin typeface="Malgun Gothic" pitchFamily="34" charset="0"/>
                <a:ea typeface="Malgun Gothic" pitchFamily="34" charset="-122"/>
                <a:cs typeface="Malgun Gothic" pitchFamily="34" charset="-120"/>
              </a:rPr>
              <a:t>대표 운영 OS와 별개로 만든 웹사이트</a:t>
            </a:r>
            <a:endParaRPr lang="en-US" sz="1300" dirty="0"/>
          </a:p>
        </p:txBody>
      </p:sp>
      <p:sp>
        <p:nvSpPr>
          <p:cNvPr id="16" name="Text 13">
            <a:hlinkClick r:id="rId3" tooltip="https://ddeokgiri-v2.vercel.app/"/>
          </p:cNvPr>
          <p:cNvSpPr txBox="1"/>
          <p:nvPr/>
        </p:nvSpPr>
        <p:spPr>
          <a:xfrm>
            <a:off x="8641080" y="5532120"/>
            <a:ext cx="3017520" cy="320040"/>
          </a:xfrm>
          <a:prstGeom prst="rect">
            <a:avLst/>
          </a:prstGeom>
          <a:noFill/>
          <a:ln/>
        </p:spPr>
        <p:txBody>
          <a:bodyPr wrap="square" lIns="0" tIns="0" rIns="0" bIns="0" rtlCol="0" anchor="t"/>
          <a:lstStyle/>
          <a:p>
            <a:pPr indent="0" marL="0">
              <a:buNone/>
            </a:pPr>
            <a:r>
              <a:rPr lang="en-US" sz="1300" b="1" u="sng" dirty="0">
                <a:solidFill>
                  <a:srgbClr val="103D3A"/>
                </a:solidFill>
                <a:latin typeface="Malgun Gothic" pitchFamily="34" charset="0"/>
                <a:ea typeface="Malgun Gothic" pitchFamily="34" charset="-122"/>
                <a:cs typeface="Malgun Gothic" pitchFamily="34" charset="-120"/>
                <a:hlinkClick r:id="rId3" invalidUrl="" action="" tgtFrame="" tooltip="https://ddeokgiri-v2.vercel.app/" history="1" highlightClick="0" endSnd="0">
                  <a:extLst>
                    <a:ext uri="{A12FA001-AC4F-418D-AE19-62706E023703}">
                      <ahyp:hlinkClr xmlns:ahyp="http://schemas.microsoft.com/office/drawing/2018/hyperlinkcolor" val="tx"/>
                    </a:ext>
                  </a:extLst>
                </a:hlinkClick>
              </a:rPr>
              <a:t>ddeokgiri-v2.vercel.app</a:t>
            </a:r>
            <a:endParaRPr lang="en-US" sz="1300" dirty="0"/>
          </a:p>
        </p:txBody>
      </p:sp>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C"/>
          </a:solidFill>
          <a:ln/>
        </p:spPr>
      </p:sp>
      <p:sp>
        <p:nvSpPr>
          <p:cNvPr id="3" name="Text 1"/>
          <p:cNvSpPr txBox="1"/>
          <p:nvPr/>
        </p:nvSpPr>
        <p:spPr>
          <a:xfrm>
            <a:off x="1005840" y="1051560"/>
            <a:ext cx="10241280" cy="2103120"/>
          </a:xfrm>
          <a:prstGeom prst="rect">
            <a:avLst/>
          </a:prstGeom>
          <a:noFill/>
          <a:ln/>
        </p:spPr>
        <p:txBody>
          <a:bodyPr wrap="square" lIns="0" tIns="0" rIns="0" bIns="0" rtlCol="0" anchor="t"/>
          <a:lstStyle/>
          <a:p>
            <a:pPr indent="0" marL="0">
              <a:lnSpc>
                <a:spcPct val="105000"/>
              </a:lnSpc>
              <a:buNone/>
            </a:pPr>
            <a:r>
              <a:rPr lang="en-US" sz="4800" b="1" dirty="0">
                <a:solidFill>
                  <a:srgbClr val="17221F"/>
                </a:solidFill>
                <a:latin typeface="Malgun Gothic" pitchFamily="34" charset="0"/>
                <a:ea typeface="Malgun Gothic" pitchFamily="34" charset="-122"/>
                <a:cs typeface="Malgun Gothic" pitchFamily="34" charset="-120"/>
              </a:rPr>
              <a:t>AI를 잘 알아서</a:t>
            </a:r>
            <a:endParaRPr lang="en-US" sz="4800" dirty="0"/>
          </a:p>
          <a:p>
            <a:pPr indent="0" marL="0">
              <a:lnSpc>
                <a:spcPct val="105000"/>
              </a:lnSpc>
              <a:buNone/>
            </a:pPr>
            <a:r>
              <a:rPr lang="en-US" sz="4800" b="1" dirty="0">
                <a:solidFill>
                  <a:srgbClr val="17221F"/>
                </a:solidFill>
                <a:latin typeface="Malgun Gothic" pitchFamily="34" charset="0"/>
                <a:ea typeface="Malgun Gothic" pitchFamily="34" charset="-122"/>
                <a:cs typeface="Malgun Gothic" pitchFamily="34" charset="-120"/>
              </a:rPr>
              <a:t>시작한 게 아닙니다.</a:t>
            </a:r>
            <a:endParaRPr lang="en-US" sz="4800" dirty="0"/>
          </a:p>
        </p:txBody>
      </p:sp>
      <p:sp>
        <p:nvSpPr>
          <p:cNvPr id="4" name="Text 2"/>
          <p:cNvSpPr txBox="1"/>
          <p:nvPr/>
        </p:nvSpPr>
        <p:spPr>
          <a:xfrm>
            <a:off x="1005840" y="3291840"/>
            <a:ext cx="10241280" cy="822960"/>
          </a:xfrm>
          <a:prstGeom prst="rect">
            <a:avLst/>
          </a:prstGeom>
          <a:noFill/>
          <a:ln/>
        </p:spPr>
        <p:txBody>
          <a:bodyPr wrap="square" lIns="0" tIns="0" rIns="0" bIns="0" rtlCol="0" anchor="t"/>
          <a:lstStyle/>
          <a:p>
            <a:pPr indent="0" marL="0">
              <a:buNone/>
            </a:pPr>
            <a:r>
              <a:rPr lang="en-US" sz="3400" b="1" dirty="0">
                <a:solidFill>
                  <a:srgbClr val="103D3A"/>
                </a:solidFill>
                <a:latin typeface="Malgun Gothic" pitchFamily="34" charset="0"/>
                <a:ea typeface="Malgun Gothic" pitchFamily="34" charset="-122"/>
                <a:cs typeface="Malgun Gothic" pitchFamily="34" charset="-120"/>
              </a:rPr>
              <a:t>필요한 일이 있어서 배우기 시작했습니다.</a:t>
            </a:r>
            <a:endParaRPr lang="en-US" sz="3400" dirty="0"/>
          </a:p>
        </p:txBody>
      </p:sp>
      <p:sp>
        <p:nvSpPr>
          <p:cNvPr id="5" name="Text 3"/>
          <p:cNvSpPr txBox="1"/>
          <p:nvPr/>
        </p:nvSpPr>
        <p:spPr>
          <a:xfrm>
            <a:off x="1005840" y="4343400"/>
            <a:ext cx="10241280" cy="457200"/>
          </a:xfrm>
          <a:prstGeom prst="rect">
            <a:avLst/>
          </a:prstGeom>
          <a:noFill/>
          <a:ln/>
        </p:spPr>
        <p:txBody>
          <a:bodyPr wrap="square" lIns="0" tIns="0" rIns="0" bIns="0" rtlCol="0" anchor="t"/>
          <a:lstStyle/>
          <a:p>
            <a:pPr indent="0" marL="0">
              <a:buNone/>
            </a:pPr>
            <a:r>
              <a:rPr lang="en-US" sz="1700" dirty="0">
                <a:solidFill>
                  <a:srgbClr val="77746B"/>
                </a:solidFill>
                <a:latin typeface="Malgun Gothic" pitchFamily="34" charset="0"/>
                <a:ea typeface="Malgun Gothic" pitchFamily="34" charset="-122"/>
                <a:cs typeface="Malgun Gothic" pitchFamily="34" charset="-120"/>
              </a:rPr>
              <a:t>작은 도전에서 시작된 변화, 앞으로도 계속됩니다.</a:t>
            </a:r>
            <a:endParaRPr lang="en-US" sz="1700" dirty="0"/>
          </a:p>
        </p:txBody>
      </p:sp>
      <p:sp>
        <p:nvSpPr>
          <p:cNvPr id="6" name="Shape 4"/>
          <p:cNvSpPr/>
          <p:nvPr/>
        </p:nvSpPr>
        <p:spPr>
          <a:xfrm>
            <a:off x="1005840" y="5669280"/>
            <a:ext cx="1188720" cy="41148"/>
          </a:xfrm>
          <a:prstGeom prst="rect">
            <a:avLst/>
          </a:prstGeom>
          <a:solidFill>
            <a:srgbClr val="103D3A"/>
          </a:solidFill>
          <a:ln/>
        </p:spPr>
      </p:sp>
      <p:sp>
        <p:nvSpPr>
          <p:cNvPr id="7" name="Text 5"/>
          <p:cNvSpPr txBox="1"/>
          <p:nvPr/>
        </p:nvSpPr>
        <p:spPr>
          <a:xfrm>
            <a:off x="1005840" y="5852160"/>
            <a:ext cx="5486400" cy="457200"/>
          </a:xfrm>
          <a:prstGeom prst="rect">
            <a:avLst/>
          </a:prstGeom>
          <a:noFill/>
          <a:ln/>
        </p:spPr>
        <p:txBody>
          <a:bodyPr wrap="square" lIns="0" tIns="0" rIns="0" bIns="0" rtlCol="0" anchor="t"/>
          <a:lstStyle/>
          <a:p>
            <a:pPr indent="0" marL="0">
              <a:buNone/>
            </a:pPr>
            <a:r>
              <a:rPr lang="en-US" sz="1800" b="1" dirty="0">
                <a:solidFill>
                  <a:srgbClr val="103D3A"/>
                </a:solidFill>
                <a:latin typeface="Malgun Gothic" pitchFamily="34" charset="0"/>
                <a:ea typeface="Malgun Gothic" pitchFamily="34" charset="-122"/>
                <a:cs typeface="Malgun Gothic" pitchFamily="34" charset="-120"/>
              </a:rPr>
              <a:t>떡기리  ·  감사합니다</a:t>
            </a:r>
            <a:endParaRPr lang="en-US" sz="1800" dirty="0"/>
          </a:p>
        </p:txBody>
      </p:sp>
      <p:sp>
        <p:nvSpPr>
          <p:cNvPr id="25" name="Slide Number Placeholder 0"/>
          <p:cNvSpPr>
            <a:spLocks noGrp="1"/>
          </p:cNvSpPr>
          <p:nvPr>
            <p:ph type="sldNum" sz="quarter" idx="4294967295"/>
          </p:nvPr>
        </p:nvSpPr>
        <p:spPr>
          <a:xfrm>
            <a:off x="1129284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46B"/>
                </a:solidFill>
                <a:latin typeface="Malgun Gothic"/>
                <a:ea typeface="Malgun Gothic"/>
                <a:cs typeface="Malgun Gothic"/>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AI로 시작한 작은 변화, 12가지 경영 도구로 확장되다</dc:title>
  <dc:subject>PptxGenJS Presentation</dc:subject>
  <dc:creator>떡기리 공동창업자 김은정</dc:creator>
  <cp:lastModifiedBy>떡기리 공동창업자 김은정</cp:lastModifiedBy>
  <cp:revision>1</cp:revision>
  <dcterms:created xsi:type="dcterms:W3CDTF">2026-10-13T17:59:26Z</dcterms:created>
  <dcterms:modified xsi:type="dcterms:W3CDTF">2026-10-13T17:59:26Z</dcterms:modified>
</cp:coreProperties>
</file>